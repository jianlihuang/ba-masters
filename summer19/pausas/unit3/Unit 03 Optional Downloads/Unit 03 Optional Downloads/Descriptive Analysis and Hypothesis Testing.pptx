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5"/>
  </p:notesMasterIdLst>
  <p:sldIdLst>
    <p:sldId id="280" r:id="rId2"/>
    <p:sldId id="281" r:id="rId3"/>
    <p:sldId id="259" r:id="rId4"/>
    <p:sldId id="260" r:id="rId5"/>
    <p:sldId id="319" r:id="rId6"/>
    <p:sldId id="320" r:id="rId7"/>
    <p:sldId id="338" r:id="rId8"/>
    <p:sldId id="339" r:id="rId9"/>
    <p:sldId id="343" r:id="rId10"/>
    <p:sldId id="308" r:id="rId11"/>
    <p:sldId id="268" r:id="rId12"/>
    <p:sldId id="269" r:id="rId13"/>
    <p:sldId id="290" r:id="rId14"/>
    <p:sldId id="291" r:id="rId15"/>
    <p:sldId id="271" r:id="rId16"/>
    <p:sldId id="341" r:id="rId17"/>
    <p:sldId id="273" r:id="rId18"/>
    <p:sldId id="292" r:id="rId19"/>
    <p:sldId id="293" r:id="rId20"/>
    <p:sldId id="274" r:id="rId21"/>
    <p:sldId id="307" r:id="rId22"/>
    <p:sldId id="288" r:id="rId23"/>
    <p:sldId id="310" r:id="rId24"/>
    <p:sldId id="311" r:id="rId25"/>
    <p:sldId id="299" r:id="rId26"/>
    <p:sldId id="348" r:id="rId27"/>
    <p:sldId id="342" r:id="rId28"/>
    <p:sldId id="344" r:id="rId29"/>
    <p:sldId id="345" r:id="rId30"/>
    <p:sldId id="346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47" r:id="rId41"/>
    <p:sldId id="325" r:id="rId42"/>
    <p:sldId id="327" r:id="rId43"/>
    <p:sldId id="315" r:id="rId44"/>
    <p:sldId id="326" r:id="rId45"/>
    <p:sldId id="302" r:id="rId46"/>
    <p:sldId id="328" r:id="rId47"/>
    <p:sldId id="303" r:id="rId48"/>
    <p:sldId id="330" r:id="rId49"/>
    <p:sldId id="305" r:id="rId50"/>
    <p:sldId id="333" r:id="rId51"/>
    <p:sldId id="304" r:id="rId52"/>
    <p:sldId id="335" r:id="rId53"/>
    <p:sldId id="336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76" autoAdjust="0"/>
    <p:restoredTop sz="74659" autoAdjust="0"/>
  </p:normalViewPr>
  <p:slideViewPr>
    <p:cSldViewPr snapToGrid="0" snapToObjects="1">
      <p:cViewPr varScale="1">
        <p:scale>
          <a:sx n="51" d="100"/>
          <a:sy n="51" d="100"/>
        </p:scale>
        <p:origin x="16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607E7-392A-40B8-8961-F84552A11992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927AD-9EA6-4B06-8CEB-984231663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6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Source: http://www.mymarketresearchmethods.com/types-of-data-nominal-ordinal-interval-ratio/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37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These problems exist even with BIG</a:t>
            </a:r>
            <a:r>
              <a:rPr lang="en-US" baseline="0" dirty="0" smtClean="0"/>
              <a:t> data, though big data reduces how much data is “missing”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44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C71B4-B016-4CD4-8335-E7D43EDCB2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42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61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74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Using the sampling distribution, we can gauge the probability of observing a certain value of the test statistic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85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C71B4-B016-4CD4-8335-E7D43EDCB2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7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50F6A-0EF4-42C5-8EEB-A748E141D396}" type="datetime1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42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26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481157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51112"/>
            <a:ext cx="2133600" cy="306888"/>
          </a:xfrm>
        </p:spPr>
        <p:txBody>
          <a:bodyPr/>
          <a:lstStyle/>
          <a:p>
            <a:fld id="{EAE7B49F-07AC-44E9-A37F-44D04467BD45}" type="datetime1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51112"/>
            <a:ext cx="2895600" cy="306888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81610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59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679CF-2268-49BB-96BA-3426821A78ED}" type="datetime1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2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FD30C-04AA-445D-B9F2-9D95E311C61F}" type="datetime1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217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E2484-3E6D-463D-A0B0-7C78BE8E78B8}" type="datetime1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7D42E-ECCE-4223-A172-0A4CBEDD6D88}" type="datetime1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81610"/>
            <a:ext cx="2133600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449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55928-0EA8-47D5-820D-6BFF972F3C6B}" type="datetime1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81610"/>
            <a:ext cx="2133600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tx1"/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87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A7124-B3C5-4FBD-8D60-215C34A150E8}" type="datetime1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913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B094F-D8D9-4E9F-BF79-E22E4B5CC8B1}" type="datetime1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36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01A8B-F8D3-4BDA-AADF-9765B1742D0C}" type="datetime1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91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E6B01-9788-4A9D-B84C-F14DBB6C0E9B}" type="datetime1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3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822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816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9A6E4-104E-4C09-A5CD-260C30CB7707}" type="datetime1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8161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816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01295"/>
            <a:ext cx="9144000" cy="370840"/>
            <a:chOff x="-1447800" y="3553460"/>
            <a:chExt cx="9144000" cy="370840"/>
          </a:xfrm>
        </p:grpSpPr>
        <p:pic>
          <p:nvPicPr>
            <p:cNvPr id="8" name="Picture 7" descr="SOM_Powerpoint.jpg"/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23" b="90907"/>
            <a:stretch/>
          </p:blipFill>
          <p:spPr>
            <a:xfrm>
              <a:off x="-1447800" y="3556000"/>
              <a:ext cx="9144000" cy="368300"/>
            </a:xfrm>
            <a:prstGeom prst="rect">
              <a:avLst/>
            </a:prstGeom>
          </p:spPr>
        </p:pic>
        <p:pic>
          <p:nvPicPr>
            <p:cNvPr id="9" name="Picture 8" descr="SOM_Powerpoint.jpg"/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547" t="1838" r="499" b="88870"/>
            <a:stretch/>
          </p:blipFill>
          <p:spPr>
            <a:xfrm>
              <a:off x="5643880" y="3553460"/>
              <a:ext cx="1371600" cy="368300"/>
            </a:xfrm>
            <a:prstGeom prst="rect">
              <a:avLst/>
            </a:prstGeom>
          </p:spPr>
        </p:pic>
        <p:pic>
          <p:nvPicPr>
            <p:cNvPr id="11" name="Picture 10" descr="SOM_Powerpoint.jpg"/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861" t="3723" b="90907"/>
            <a:stretch/>
          </p:blipFill>
          <p:spPr>
            <a:xfrm>
              <a:off x="7016470" y="3553460"/>
              <a:ext cx="469900" cy="368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96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 Narrow" pitchFamily="34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Arial Narrow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130425"/>
            <a:ext cx="8077200" cy="1470025"/>
          </a:xfrm>
        </p:spPr>
        <p:txBody>
          <a:bodyPr/>
          <a:lstStyle/>
          <a:p>
            <a:r>
              <a:rPr lang="en-US" dirty="0" smtClean="0"/>
              <a:t>Descriptive Analysis &amp; Hypothesis Testing</a:t>
            </a:r>
            <a:br>
              <a:rPr lang="en-US" dirty="0" smtClean="0"/>
            </a:br>
            <a:r>
              <a:rPr lang="en-US" dirty="0" smtClean="0"/>
              <a:t>Part 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Upender Subramanian</a:t>
            </a:r>
          </a:p>
          <a:p>
            <a:r>
              <a:rPr lang="en-US" dirty="0" smtClean="0"/>
              <a:t>MKT/BUAN 6337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3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Data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7976"/>
            <a:ext cx="8229600" cy="434169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609850" y="914400"/>
            <a:ext cx="179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Each value is </a:t>
            </a:r>
          </a:p>
          <a:p>
            <a:pPr algn="ctr"/>
            <a:r>
              <a:rPr lang="en-US" dirty="0" smtClean="0"/>
              <a:t>a distinct category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29100" y="906439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Values can be ordered </a:t>
            </a:r>
          </a:p>
          <a:p>
            <a:pPr algn="ctr"/>
            <a:r>
              <a:rPr lang="en-US" dirty="0" smtClean="0"/>
              <a:t>high to low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00700" y="620689"/>
            <a:ext cx="169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Relative difference between values is meaningful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048500" y="906439"/>
            <a:ext cx="1695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Absolute </a:t>
            </a:r>
          </a:p>
          <a:p>
            <a:pPr algn="ctr"/>
            <a:r>
              <a:rPr lang="en-US" dirty="0" smtClean="0"/>
              <a:t>value is meaningful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8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Types of Data are these?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2"/>
            <a:ext cx="8229600" cy="5317228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Customer Id</a:t>
            </a:r>
          </a:p>
          <a:p>
            <a:r>
              <a:rPr lang="en-US" dirty="0"/>
              <a:t>Income</a:t>
            </a:r>
          </a:p>
          <a:p>
            <a:r>
              <a:rPr lang="en-US" sz="2800" dirty="0" smtClean="0"/>
              <a:t>Amazon’s Product Rank</a:t>
            </a:r>
          </a:p>
          <a:p>
            <a:r>
              <a:rPr lang="en-US" dirty="0"/>
              <a:t>Gender </a:t>
            </a:r>
          </a:p>
          <a:p>
            <a:r>
              <a:rPr lang="en-US" dirty="0"/>
              <a:t>Purchase quantity</a:t>
            </a:r>
          </a:p>
          <a:p>
            <a:r>
              <a:rPr lang="en-US" dirty="0" smtClean="0"/>
              <a:t>Amazon’s Customer </a:t>
            </a:r>
            <a:r>
              <a:rPr lang="en-US" sz="2800" dirty="0" smtClean="0"/>
              <a:t>Ratings</a:t>
            </a:r>
          </a:p>
          <a:p>
            <a:r>
              <a:rPr lang="en-US" dirty="0" smtClean="0"/>
              <a:t>L</a:t>
            </a:r>
            <a:r>
              <a:rPr lang="en-US" sz="2800" dirty="0" smtClean="0"/>
              <a:t>ikert scales (E.g., 1 = Highly Disagree, 7 = Highly Agree)</a:t>
            </a:r>
          </a:p>
          <a:p>
            <a:r>
              <a:rPr lang="en-US" dirty="0" smtClean="0"/>
              <a:t>Customer </a:t>
            </a:r>
            <a:r>
              <a:rPr lang="en-US" dirty="0"/>
              <a:t>choice decisions</a:t>
            </a:r>
          </a:p>
          <a:p>
            <a:r>
              <a:rPr lang="en-US" dirty="0"/>
              <a:t>Month</a:t>
            </a:r>
          </a:p>
          <a:p>
            <a:r>
              <a:rPr lang="en-US" sz="2800" dirty="0" smtClean="0"/>
              <a:t>Sales</a:t>
            </a:r>
          </a:p>
        </p:txBody>
      </p:sp>
    </p:spTree>
    <p:extLst>
      <p:ext uri="{BB962C8B-B14F-4D97-AF65-F5344CB8AC3E}">
        <p14:creationId xmlns:p14="http://schemas.microsoft.com/office/powerpoint/2010/main" val="207540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Basic Descriptive Analysis in SAS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Summarizing Data</a:t>
            </a:r>
          </a:p>
          <a:p>
            <a:r>
              <a:rPr lang="en-US" dirty="0" smtClean="0"/>
              <a:t>PROC UNIVARIATE</a:t>
            </a:r>
          </a:p>
          <a:p>
            <a:r>
              <a:rPr lang="en-US" dirty="0" smtClean="0"/>
              <a:t>PROC TABULATE</a:t>
            </a:r>
          </a:p>
          <a:p>
            <a:r>
              <a:rPr lang="en-US" dirty="0" smtClean="0"/>
              <a:t>PROC MEANS</a:t>
            </a:r>
          </a:p>
          <a:p>
            <a:r>
              <a:rPr lang="en-US" dirty="0" smtClean="0"/>
              <a:t>PROC FREQ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Graphing Data</a:t>
            </a:r>
          </a:p>
          <a:p>
            <a:r>
              <a:rPr lang="en-US" dirty="0"/>
              <a:t>PROC SGPLOT</a:t>
            </a:r>
          </a:p>
          <a:p>
            <a:r>
              <a:rPr lang="en-US" dirty="0"/>
              <a:t>PROC SGPANEL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4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Customer – Salesperson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2"/>
            <a:ext cx="8229600" cy="5241028"/>
          </a:xfrm>
        </p:spPr>
        <p:txBody>
          <a:bodyPr>
            <a:normAutofit/>
          </a:bodyPr>
          <a:lstStyle/>
          <a:p>
            <a:r>
              <a:rPr lang="en-US" dirty="0"/>
              <a:t>Study on how type of customer relationship affects customer trust and ordering decisions</a:t>
            </a:r>
          </a:p>
          <a:p>
            <a:pPr lvl="1"/>
            <a:r>
              <a:rPr lang="en-US" dirty="0"/>
              <a:t>Whether customer relationship is short (</a:t>
            </a:r>
            <a:r>
              <a:rPr lang="en-US" b="1" dirty="0"/>
              <a:t>1-off</a:t>
            </a:r>
            <a:r>
              <a:rPr lang="en-US" dirty="0"/>
              <a:t>) or long (</a:t>
            </a:r>
            <a:r>
              <a:rPr lang="en-US" b="1" dirty="0"/>
              <a:t>repeated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Whether sales person </a:t>
            </a:r>
            <a:r>
              <a:rPr lang="en-US" dirty="0" smtClean="0"/>
              <a:t>gives customer </a:t>
            </a:r>
            <a:r>
              <a:rPr lang="en-US" b="1" dirty="0" smtClean="0"/>
              <a:t>information</a:t>
            </a:r>
            <a:r>
              <a:rPr lang="en-US" dirty="0" smtClean="0"/>
              <a:t> about customer’s need, </a:t>
            </a:r>
            <a:r>
              <a:rPr lang="en-US" dirty="0"/>
              <a:t>or </a:t>
            </a:r>
            <a:r>
              <a:rPr lang="en-US" b="1" dirty="0" smtClean="0"/>
              <a:t>advises</a:t>
            </a:r>
            <a:r>
              <a:rPr lang="en-US" dirty="0" smtClean="0"/>
              <a:t> customer what </a:t>
            </a:r>
            <a:r>
              <a:rPr lang="en-US" dirty="0"/>
              <a:t>decision to make</a:t>
            </a:r>
          </a:p>
          <a:p>
            <a:endParaRPr lang="en-US" dirty="0" smtClean="0"/>
          </a:p>
          <a:p>
            <a:r>
              <a:rPr lang="en-US" dirty="0" smtClean="0"/>
              <a:t>Participants </a:t>
            </a:r>
            <a:r>
              <a:rPr lang="en-US" dirty="0"/>
              <a:t>were mostly JSOM </a:t>
            </a:r>
            <a:r>
              <a:rPr lang="en-US" dirty="0" smtClean="0"/>
              <a:t>students</a:t>
            </a:r>
          </a:p>
          <a:p>
            <a:pPr lvl="1"/>
            <a:r>
              <a:rPr lang="en-US" dirty="0"/>
              <a:t>Conducted in UT Dallas LBOE experiment </a:t>
            </a:r>
            <a:r>
              <a:rPr lang="en-US" dirty="0" smtClean="0"/>
              <a:t>lab</a:t>
            </a:r>
          </a:p>
          <a:p>
            <a:pPr lvl="1"/>
            <a:endParaRPr lang="en-US" dirty="0"/>
          </a:p>
          <a:p>
            <a:r>
              <a:rPr lang="en-US" dirty="0" smtClean="0"/>
              <a:t>Participants made several decisions during the study, and paid </a:t>
            </a:r>
            <a:r>
              <a:rPr lang="en-US" dirty="0"/>
              <a:t>based on outcome of </a:t>
            </a:r>
            <a:r>
              <a:rPr lang="en-US" dirty="0" smtClean="0"/>
              <a:t>the decisions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2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Customer has a need for a product. 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Level of Customer Need represented by a number between 10 and 80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Customer must make decision on how much of the product to buy, represented by a number from 0 to 200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If Customer Need is X, then quantity of product that Customer should order is also 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8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2"/>
            <a:ext cx="8477250" cy="5202928"/>
          </a:xfrm>
        </p:spPr>
        <p:txBody>
          <a:bodyPr>
            <a:normAutofit/>
          </a:bodyPr>
          <a:lstStyle/>
          <a:p>
            <a:r>
              <a:rPr lang="en-US" dirty="0" smtClean="0"/>
              <a:t>Customer does not know her actual need</a:t>
            </a:r>
          </a:p>
          <a:p>
            <a:pPr lvl="1"/>
            <a:r>
              <a:rPr lang="en-US" dirty="0" smtClean="0"/>
              <a:t>E.g., customer needing a car repair or some medical treatment</a:t>
            </a:r>
          </a:p>
          <a:p>
            <a:r>
              <a:rPr lang="en-US" dirty="0" smtClean="0"/>
              <a:t>But salesperson knows the Customer Need</a:t>
            </a:r>
          </a:p>
          <a:p>
            <a:pPr lvl="1"/>
            <a:r>
              <a:rPr lang="en-US" dirty="0" smtClean="0"/>
              <a:t>E.g., car mechanic, doctor</a:t>
            </a:r>
          </a:p>
          <a:p>
            <a:r>
              <a:rPr lang="en-US" dirty="0" smtClean="0"/>
              <a:t>Salesperson can give customer a “report”</a:t>
            </a:r>
          </a:p>
          <a:p>
            <a:pPr lvl="1"/>
            <a:r>
              <a:rPr lang="en-US" b="1" dirty="0" smtClean="0"/>
              <a:t>Information:</a:t>
            </a:r>
            <a:r>
              <a:rPr lang="en-US" dirty="0" smtClean="0"/>
              <a:t> Tell customer what her need is (need not be truthful)</a:t>
            </a:r>
          </a:p>
          <a:p>
            <a:pPr lvl="1"/>
            <a:r>
              <a:rPr lang="en-US" b="1" dirty="0" smtClean="0"/>
              <a:t>Advice:</a:t>
            </a:r>
            <a:r>
              <a:rPr lang="en-US" dirty="0" smtClean="0"/>
              <a:t> Advises the customer what decision to make</a:t>
            </a:r>
          </a:p>
          <a:p>
            <a:r>
              <a:rPr lang="en-US" dirty="0" smtClean="0"/>
              <a:t>Length of relationship can vary</a:t>
            </a:r>
          </a:p>
          <a:p>
            <a:pPr lvl="1"/>
            <a:r>
              <a:rPr lang="en-US" b="1" dirty="0" smtClean="0"/>
              <a:t>1 off:</a:t>
            </a:r>
            <a:r>
              <a:rPr lang="en-US" dirty="0" smtClean="0"/>
              <a:t> Customer and salesperson will not interact in the future</a:t>
            </a:r>
          </a:p>
          <a:p>
            <a:pPr lvl="1"/>
            <a:r>
              <a:rPr lang="en-US" b="1" dirty="0" smtClean="0"/>
              <a:t>Repeated:</a:t>
            </a:r>
            <a:r>
              <a:rPr lang="en-US" dirty="0" smtClean="0"/>
              <a:t> Customer and salesperson will </a:t>
            </a:r>
            <a:r>
              <a:rPr lang="en-US" dirty="0"/>
              <a:t>also </a:t>
            </a:r>
            <a:r>
              <a:rPr lang="en-US" dirty="0" smtClean="0"/>
              <a:t>interact in the future</a:t>
            </a:r>
          </a:p>
          <a:p>
            <a:pPr lvl="1"/>
            <a:r>
              <a:rPr lang="en-US" dirty="0" smtClean="0"/>
              <a:t>11 rounds of interaction in all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5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5417088"/>
          </a:xfrm>
        </p:spPr>
        <p:txBody>
          <a:bodyPr>
            <a:normAutofit/>
          </a:bodyPr>
          <a:lstStyle/>
          <a:p>
            <a:r>
              <a:rPr lang="en-US" dirty="0" smtClean="0"/>
              <a:t>2 Treatment Factors</a:t>
            </a:r>
          </a:p>
          <a:p>
            <a:pPr lvl="1"/>
            <a:r>
              <a:rPr lang="en-US" dirty="0" smtClean="0"/>
              <a:t>Factor 1: Information or Advice</a:t>
            </a:r>
          </a:p>
          <a:p>
            <a:pPr lvl="1"/>
            <a:r>
              <a:rPr lang="en-US" dirty="0" smtClean="0"/>
              <a:t>Factor 2: 1-off or Repeated</a:t>
            </a:r>
          </a:p>
          <a:p>
            <a:r>
              <a:rPr lang="en-US" dirty="0" smtClean="0"/>
              <a:t>2 x 2 = 4 Treatment Conditions were used in the study</a:t>
            </a:r>
          </a:p>
          <a:p>
            <a:pPr lvl="1"/>
            <a:r>
              <a:rPr lang="en-US" dirty="0" smtClean="0"/>
              <a:t>Sales person provides Information, Relationship is 1 –off</a:t>
            </a:r>
          </a:p>
          <a:p>
            <a:pPr lvl="1"/>
            <a:r>
              <a:rPr lang="en-US" dirty="0"/>
              <a:t>Sales person provides </a:t>
            </a:r>
            <a:r>
              <a:rPr lang="en-US" dirty="0" smtClean="0"/>
              <a:t>Advice, </a:t>
            </a:r>
            <a:r>
              <a:rPr lang="en-US" dirty="0"/>
              <a:t>Relationship is 1 –off</a:t>
            </a:r>
          </a:p>
          <a:p>
            <a:pPr lvl="1"/>
            <a:r>
              <a:rPr lang="en-US" dirty="0"/>
              <a:t>Sales person provides Information, Relationship is </a:t>
            </a:r>
            <a:r>
              <a:rPr lang="en-US" dirty="0" smtClean="0"/>
              <a:t>repeated</a:t>
            </a:r>
            <a:endParaRPr lang="en-US" dirty="0"/>
          </a:p>
          <a:p>
            <a:pPr lvl="1"/>
            <a:r>
              <a:rPr lang="en-US" dirty="0" smtClean="0"/>
              <a:t>Sales </a:t>
            </a:r>
            <a:r>
              <a:rPr lang="en-US" dirty="0"/>
              <a:t>person provides </a:t>
            </a:r>
            <a:r>
              <a:rPr lang="en-US" dirty="0" smtClean="0"/>
              <a:t>Advice, </a:t>
            </a:r>
            <a:r>
              <a:rPr lang="en-US" dirty="0"/>
              <a:t>Relationship is </a:t>
            </a:r>
            <a:r>
              <a:rPr lang="en-US" dirty="0" smtClean="0"/>
              <a:t>repeated</a:t>
            </a:r>
          </a:p>
          <a:p>
            <a:r>
              <a:rPr lang="en-US" dirty="0" smtClean="0"/>
              <a:t>Each </a:t>
            </a:r>
            <a:r>
              <a:rPr lang="en-US" dirty="0"/>
              <a:t>experimental session had 1 combination of factors</a:t>
            </a:r>
          </a:p>
          <a:p>
            <a:pPr lvl="1"/>
            <a:r>
              <a:rPr lang="en-US" dirty="0"/>
              <a:t>So the type of interaction did not change in between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0"/>
            <a:ext cx="8686800" cy="982639"/>
          </a:xfrm>
        </p:spPr>
        <p:txBody>
          <a:bodyPr>
            <a:normAutofit/>
          </a:bodyPr>
          <a:lstStyle/>
          <a:p>
            <a:r>
              <a:rPr lang="en-US" dirty="0" smtClean="0"/>
              <a:t>Sales Experiment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Variables of Interest</a:t>
            </a:r>
          </a:p>
          <a:p>
            <a:pPr lvl="1"/>
            <a:r>
              <a:rPr lang="en-US" dirty="0" err="1" smtClean="0"/>
              <a:t>CustomerNeed</a:t>
            </a:r>
            <a:r>
              <a:rPr lang="en-US" dirty="0" smtClean="0"/>
              <a:t>, </a:t>
            </a:r>
            <a:r>
              <a:rPr lang="en-US" dirty="0" err="1" smtClean="0"/>
              <a:t>SalesInfoAdvice</a:t>
            </a:r>
            <a:r>
              <a:rPr lang="en-US" dirty="0" smtClean="0"/>
              <a:t>, </a:t>
            </a:r>
            <a:r>
              <a:rPr lang="en-US" dirty="0" err="1" smtClean="0"/>
              <a:t>CustomerDecision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Treatment Condition Variables</a:t>
            </a:r>
          </a:p>
          <a:p>
            <a:pPr lvl="1"/>
            <a:r>
              <a:rPr lang="en-US" dirty="0" smtClean="0"/>
              <a:t>Report = IS (Information)/ AP (Advice)</a:t>
            </a:r>
          </a:p>
          <a:p>
            <a:pPr lvl="1"/>
            <a:r>
              <a:rPr lang="en-US" dirty="0" smtClean="0"/>
              <a:t>Repeated = 1 off / Repeated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81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Exploratory </a:t>
            </a:r>
            <a:r>
              <a:rPr lang="en-US" dirty="0" smtClean="0"/>
              <a:t>Analysis: </a:t>
            </a:r>
            <a:br>
              <a:rPr lang="en-US" dirty="0" smtClean="0"/>
            </a:br>
            <a:r>
              <a:rPr lang="en-US" dirty="0" smtClean="0"/>
              <a:t>Some Questions of Interest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5221978"/>
          </a:xfrm>
        </p:spPr>
        <p:txBody>
          <a:bodyPr/>
          <a:lstStyle/>
          <a:p>
            <a:r>
              <a:rPr lang="en-US" dirty="0"/>
              <a:t>Do sales people report truthfully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dirty="0" smtClean="0"/>
              <a:t>Are sales people’s reports informative?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Do customers rely on what salespeople tell them?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3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Descriptive Analysis &amp; Hypothesis Testing</a:t>
            </a:r>
            <a:br>
              <a:rPr lang="en-US" dirty="0"/>
            </a:br>
            <a:r>
              <a:rPr lang="en-US" dirty="0"/>
              <a:t>Part </a:t>
            </a:r>
            <a:r>
              <a:rPr lang="en-US" dirty="0" smtClean="0"/>
              <a:t>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Hypothesis Testing / Statistical Inference: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69443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5279128"/>
          </a:xfrm>
        </p:spPr>
        <p:txBody>
          <a:bodyPr>
            <a:normAutofit/>
          </a:bodyPr>
          <a:lstStyle/>
          <a:p>
            <a:r>
              <a:rPr lang="en-US" dirty="0" smtClean="0"/>
              <a:t>Often we can frame the questions that we want to answer as claims about the statistical properties of the data</a:t>
            </a:r>
          </a:p>
          <a:p>
            <a:pPr lvl="1"/>
            <a:r>
              <a:rPr lang="en-US" dirty="0" smtClean="0"/>
              <a:t>E.g., means of two groups are the same, correlation between variables is  zero, some relationship between multiple variables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we could have all the data that is theoretically possible to have in this situation, then we can simply verify from the data if a hypothesis is supported</a:t>
            </a:r>
          </a:p>
          <a:p>
            <a:pPr lvl="1"/>
            <a:r>
              <a:rPr lang="en-US" dirty="0"/>
              <a:t>E.g., is the mean zero? is there a positive relationship</a:t>
            </a:r>
            <a:r>
              <a:rPr lang="en-US" dirty="0" smtClean="0"/>
              <a:t>?</a:t>
            </a:r>
          </a:p>
          <a:p>
            <a:pPr lvl="3"/>
            <a:endParaRPr lang="en-US" dirty="0"/>
          </a:p>
          <a:p>
            <a:r>
              <a:rPr lang="en-US" dirty="0" smtClean="0"/>
              <a:t>But, in </a:t>
            </a:r>
            <a:r>
              <a:rPr lang="en-US" dirty="0"/>
              <a:t>practice, we only have limited </a:t>
            </a:r>
            <a:r>
              <a:rPr lang="en-US" dirty="0" smtClean="0"/>
              <a:t>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22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Challenges of Limited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440282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Sampling / Missing Observations</a:t>
            </a:r>
          </a:p>
          <a:p>
            <a:pPr lvl="1"/>
            <a:r>
              <a:rPr lang="en-US" dirty="0" smtClean="0"/>
              <a:t>We observe only a limited sample of observations from the entire “</a:t>
            </a:r>
            <a:r>
              <a:rPr lang="en-US" b="1" u="sng" dirty="0" smtClean="0"/>
              <a:t>population”</a:t>
            </a:r>
            <a:r>
              <a:rPr lang="en-US" dirty="0" smtClean="0"/>
              <a:t>  (set of all possible observations)</a:t>
            </a:r>
          </a:p>
          <a:p>
            <a:pPr lvl="1"/>
            <a:r>
              <a:rPr lang="en-US" dirty="0" smtClean="0"/>
              <a:t>E.g</a:t>
            </a:r>
            <a:r>
              <a:rPr lang="en-US" dirty="0"/>
              <a:t>., Evaluate </a:t>
            </a:r>
            <a:r>
              <a:rPr lang="en-US" dirty="0" smtClean="0"/>
              <a:t>ad-effectiveness </a:t>
            </a:r>
            <a:r>
              <a:rPr lang="en-US" dirty="0"/>
              <a:t>for entire market based on the reaction of a sample of the </a:t>
            </a:r>
            <a:r>
              <a:rPr lang="en-US" dirty="0" smtClean="0"/>
              <a:t>customers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Noise / Missing Variables</a:t>
            </a:r>
          </a:p>
          <a:p>
            <a:pPr lvl="1"/>
            <a:r>
              <a:rPr lang="en-US" dirty="0" smtClean="0"/>
              <a:t>We do not control or even observe all the variables that </a:t>
            </a:r>
            <a:r>
              <a:rPr lang="en-US" dirty="0"/>
              <a:t>may also influence the outcome of </a:t>
            </a:r>
            <a:r>
              <a:rPr lang="en-US" dirty="0" smtClean="0"/>
              <a:t>interest</a:t>
            </a:r>
            <a:endParaRPr lang="en-US" dirty="0"/>
          </a:p>
          <a:p>
            <a:pPr lvl="1"/>
            <a:r>
              <a:rPr lang="en-US" dirty="0"/>
              <a:t>E.g., </a:t>
            </a:r>
            <a:r>
              <a:rPr lang="en-US" dirty="0" smtClean="0"/>
              <a:t>Products that consumer has bought in the past can affect whether customer buys in response to this particular ad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1950" y="5467350"/>
            <a:ext cx="8439150" cy="138499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IMPLICATION: We </a:t>
            </a:r>
            <a:r>
              <a:rPr lang="en-US" sz="2800" dirty="0"/>
              <a:t>cannot simply accept what we find from simple analysis of the data we have (e.g., means could have been different by chance</a:t>
            </a:r>
            <a:r>
              <a:rPr lang="en-US" sz="2800" dirty="0" smtClean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8991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of Limited Data – An Analogy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022"/>
            <a:ext cx="8229600" cy="5507728"/>
          </a:xfrm>
        </p:spPr>
        <p:txBody>
          <a:bodyPr>
            <a:noAutofit/>
          </a:bodyPr>
          <a:lstStyle/>
          <a:p>
            <a:r>
              <a:rPr lang="en-US" sz="2800" dirty="0" smtClean="0"/>
              <a:t>A bag has a 1000 red and blue balls. You need to determine whether the ratio is 50-50.</a:t>
            </a:r>
          </a:p>
          <a:p>
            <a:pPr lvl="3"/>
            <a:endParaRPr lang="en-US" dirty="0" smtClean="0"/>
          </a:p>
          <a:p>
            <a:r>
              <a:rPr lang="en-US" sz="2800" i="1" dirty="0" smtClean="0"/>
              <a:t>Sampling:</a:t>
            </a:r>
            <a:r>
              <a:rPr lang="en-US" sz="2800" dirty="0" smtClean="0"/>
              <a:t> You can pick only ten balls out of the bag</a:t>
            </a:r>
          </a:p>
          <a:p>
            <a:pPr lvl="1"/>
            <a:r>
              <a:rPr lang="en-US" dirty="0"/>
              <a:t>Since you see only </a:t>
            </a:r>
            <a:r>
              <a:rPr lang="en-US" dirty="0" smtClean="0"/>
              <a:t>ten balls</a:t>
            </a:r>
            <a:r>
              <a:rPr lang="en-US" dirty="0"/>
              <a:t>, you can only guess but never be sure about what the true ratio </a:t>
            </a:r>
            <a:r>
              <a:rPr lang="en-US" dirty="0" smtClean="0"/>
              <a:t>is</a:t>
            </a:r>
          </a:p>
          <a:p>
            <a:pPr lvl="1"/>
            <a:r>
              <a:rPr lang="en-US" dirty="0" smtClean="0"/>
              <a:t>Need to make assumptions about the balls you pick: e.g., the balls </a:t>
            </a:r>
            <a:r>
              <a:rPr lang="en-US" dirty="0"/>
              <a:t>you see is </a:t>
            </a:r>
            <a:r>
              <a:rPr lang="en-US" dirty="0" smtClean="0"/>
              <a:t>entirely random </a:t>
            </a:r>
            <a:r>
              <a:rPr lang="en-US" dirty="0"/>
              <a:t>and not under your </a:t>
            </a:r>
            <a:r>
              <a:rPr lang="en-US" dirty="0" smtClean="0"/>
              <a:t>control</a:t>
            </a:r>
            <a:endParaRPr lang="en-US" sz="2400" dirty="0" smtClean="0"/>
          </a:p>
          <a:p>
            <a:pPr lvl="3"/>
            <a:endParaRPr lang="en-US" i="1" dirty="0" smtClean="0"/>
          </a:p>
          <a:p>
            <a:r>
              <a:rPr lang="en-US" sz="2800" i="1" dirty="0" smtClean="0"/>
              <a:t>Noise:</a:t>
            </a:r>
            <a:r>
              <a:rPr lang="en-US" sz="2800" dirty="0" smtClean="0"/>
              <a:t> Some additional balls were added to the bag before you picked. You do not know how many or what color.</a:t>
            </a:r>
          </a:p>
          <a:p>
            <a:pPr lvl="1"/>
            <a:r>
              <a:rPr lang="en-US" dirty="0" smtClean="0"/>
              <a:t>Adds more randomness to what ten balls </a:t>
            </a:r>
            <a:r>
              <a:rPr lang="en-US" dirty="0"/>
              <a:t>you might see given the true </a:t>
            </a:r>
            <a:r>
              <a:rPr lang="en-US" dirty="0" smtClean="0"/>
              <a:t>original ratio; need to make assumptions about added balls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2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Hypotheses with Limited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2"/>
            <a:ext cx="8229600" cy="5164828"/>
          </a:xfrm>
        </p:spPr>
        <p:txBody>
          <a:bodyPr>
            <a:normAutofit/>
          </a:bodyPr>
          <a:lstStyle/>
          <a:p>
            <a:r>
              <a:rPr lang="en-US" dirty="0" smtClean="0"/>
              <a:t>SOLUTION: Use probability theory to “model” properties of observed data to make inferences about population</a:t>
            </a:r>
          </a:p>
          <a:p>
            <a:pPr lvl="1"/>
            <a:r>
              <a:rPr lang="en-US" dirty="0" smtClean="0"/>
              <a:t>Based on assumptions about the population, and the random process that led to the data we got to observe (</a:t>
            </a:r>
            <a:r>
              <a:rPr lang="en-US" dirty="0"/>
              <a:t>sampling + noise)</a:t>
            </a:r>
            <a:endParaRPr lang="en-US" dirty="0" smtClean="0"/>
          </a:p>
          <a:p>
            <a:pPr lvl="1"/>
            <a:r>
              <a:rPr lang="en-US" dirty="0" smtClean="0"/>
              <a:t>We only got to see </a:t>
            </a:r>
            <a:r>
              <a:rPr lang="en-US" b="1" u="sng" dirty="0" smtClean="0"/>
              <a:t>one random sample</a:t>
            </a:r>
            <a:r>
              <a:rPr lang="en-US" dirty="0" smtClean="0"/>
              <a:t> from all possible samples of the population that we could have potentially seen</a:t>
            </a:r>
          </a:p>
          <a:p>
            <a:pPr lvl="1"/>
            <a:r>
              <a:rPr lang="en-US" dirty="0" smtClean="0"/>
              <a:t>We cannot precisely know what combinations of unknown variables occurred in this specific sample</a:t>
            </a:r>
          </a:p>
          <a:p>
            <a:pPr lvl="3"/>
            <a:endParaRPr lang="en-US" dirty="0" smtClean="0"/>
          </a:p>
          <a:p>
            <a:r>
              <a:rPr lang="en-US" u="sng" dirty="0"/>
              <a:t>“Statistical test”:</a:t>
            </a:r>
            <a:r>
              <a:rPr lang="en-US" dirty="0"/>
              <a:t> </a:t>
            </a:r>
            <a:r>
              <a:rPr lang="en-US" dirty="0" smtClean="0"/>
              <a:t>Procedure </a:t>
            </a:r>
            <a:r>
              <a:rPr lang="en-US" dirty="0"/>
              <a:t>to determine </a:t>
            </a:r>
            <a:r>
              <a:rPr lang="en-US" dirty="0" smtClean="0"/>
              <a:t>whether there is enough </a:t>
            </a:r>
            <a:r>
              <a:rPr lang="en-US" dirty="0"/>
              <a:t>evidence to support certain claims</a:t>
            </a:r>
            <a:r>
              <a:rPr lang="en-US" dirty="0" smtClean="0"/>
              <a:t>, </a:t>
            </a:r>
            <a:r>
              <a:rPr lang="en-US" dirty="0"/>
              <a:t>accounting for the </a:t>
            </a:r>
            <a:r>
              <a:rPr lang="en-US" dirty="0" smtClean="0"/>
              <a:t>inherent randomness </a:t>
            </a:r>
            <a:r>
              <a:rPr lang="en-US" dirty="0"/>
              <a:t>in the data we </a:t>
            </a:r>
            <a:r>
              <a:rPr lang="en-US" dirty="0" smtClean="0"/>
              <a:t>observed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3360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Testing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AutoNum type="romanLcParenR"/>
            </a:pPr>
            <a:r>
              <a:rPr lang="en-US" dirty="0" smtClean="0"/>
              <a:t>Formulate </a:t>
            </a:r>
            <a:r>
              <a:rPr lang="en-US" b="1" dirty="0"/>
              <a:t>null </a:t>
            </a:r>
            <a:r>
              <a:rPr lang="en-US" b="1" dirty="0" smtClean="0"/>
              <a:t>(H</a:t>
            </a:r>
            <a:r>
              <a:rPr lang="en-US" b="1" baseline="-25000" dirty="0" smtClean="0"/>
              <a:t>0</a:t>
            </a:r>
            <a:r>
              <a:rPr lang="en-US" b="1" dirty="0" smtClean="0"/>
              <a:t>)</a:t>
            </a:r>
            <a:r>
              <a:rPr lang="en-US" b="1" baseline="-25000" dirty="0" smtClean="0"/>
              <a:t> </a:t>
            </a:r>
            <a:r>
              <a:rPr lang="en-US" b="1" dirty="0"/>
              <a:t>and alternate (</a:t>
            </a:r>
            <a:r>
              <a:rPr lang="en-US" b="1" dirty="0" smtClean="0"/>
              <a:t>H</a:t>
            </a:r>
            <a:r>
              <a:rPr lang="en-US" b="1" baseline="-25000" dirty="0" smtClean="0"/>
              <a:t>a</a:t>
            </a:r>
            <a:r>
              <a:rPr lang="en-US" b="1" dirty="0" smtClean="0"/>
              <a:t>) </a:t>
            </a:r>
            <a:r>
              <a:rPr lang="en-US" b="1" dirty="0"/>
              <a:t>hypotheses</a:t>
            </a:r>
            <a:endParaRPr lang="en-US" b="1" dirty="0" smtClean="0"/>
          </a:p>
          <a:p>
            <a:pPr marL="571500" indent="-571500">
              <a:buFont typeface="Arial"/>
              <a:buAutoNum type="romanLcParenR"/>
            </a:pPr>
            <a:r>
              <a:rPr lang="en-US" dirty="0"/>
              <a:t>Set </a:t>
            </a:r>
            <a:r>
              <a:rPr lang="en-US" b="1" dirty="0" smtClean="0"/>
              <a:t>confidence level</a:t>
            </a:r>
            <a:r>
              <a:rPr lang="en-US" dirty="0" smtClean="0"/>
              <a:t> for test – </a:t>
            </a:r>
            <a:r>
              <a:rPr lang="en-US" dirty="0"/>
              <a:t>the probability of incorrectly rejecting H</a:t>
            </a:r>
            <a:r>
              <a:rPr lang="en-US" baseline="-25000" dirty="0"/>
              <a:t>0  </a:t>
            </a:r>
            <a:r>
              <a:rPr lang="en-US" dirty="0"/>
              <a:t>when it is in fact true</a:t>
            </a:r>
          </a:p>
          <a:p>
            <a:pPr marL="571500" indent="-571500">
              <a:buAutoNum type="romanLcParenR"/>
            </a:pPr>
            <a:r>
              <a:rPr lang="en-US" dirty="0" smtClean="0"/>
              <a:t>Check whether necessary assumptions about population and data generating process hold for your data</a:t>
            </a:r>
          </a:p>
          <a:p>
            <a:pPr marL="571500" indent="-571500">
              <a:buAutoNum type="romanLcParenR"/>
            </a:pPr>
            <a:r>
              <a:rPr lang="en-US" dirty="0" smtClean="0"/>
              <a:t>Calculate relevant </a:t>
            </a:r>
            <a:r>
              <a:rPr lang="en-US" b="1" dirty="0" smtClean="0"/>
              <a:t>test statistic</a:t>
            </a:r>
            <a:r>
              <a:rPr lang="en-US" dirty="0" smtClean="0"/>
              <a:t> in your sample</a:t>
            </a:r>
          </a:p>
          <a:p>
            <a:pPr marL="571500" indent="-571500">
              <a:buAutoNum type="romanLcParenR"/>
            </a:pPr>
            <a:r>
              <a:rPr lang="en-US" dirty="0" smtClean="0"/>
              <a:t>Compare test statistic against its </a:t>
            </a:r>
            <a:r>
              <a:rPr lang="en-US" b="1" dirty="0" smtClean="0"/>
              <a:t>sampling distribution</a:t>
            </a:r>
            <a:r>
              <a:rPr lang="en-US" dirty="0" smtClean="0"/>
              <a:t> to determine whether or not we can “confidently” reject H</a:t>
            </a:r>
            <a:r>
              <a:rPr lang="en-US" baseline="-25000" dirty="0" smtClean="0"/>
              <a:t>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4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Formulating Hypotheses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2"/>
            <a:ext cx="8229600" cy="5374377"/>
          </a:xfrm>
        </p:spPr>
        <p:txBody>
          <a:bodyPr>
            <a:normAutofit/>
          </a:bodyPr>
          <a:lstStyle/>
          <a:p>
            <a:r>
              <a:rPr lang="en-US" dirty="0" smtClean="0"/>
              <a:t>Claims are formulated as null and alternate hypotheses</a:t>
            </a:r>
          </a:p>
          <a:p>
            <a:pPr lvl="1"/>
            <a:r>
              <a:rPr lang="en-US" b="1" dirty="0" smtClean="0"/>
              <a:t>Null Hypothesis (H</a:t>
            </a:r>
            <a:r>
              <a:rPr lang="en-US" b="1" baseline="-25000" dirty="0" smtClean="0"/>
              <a:t>0</a:t>
            </a:r>
            <a:r>
              <a:rPr lang="en-US" b="1" dirty="0" smtClean="0"/>
              <a:t>):</a:t>
            </a:r>
            <a:r>
              <a:rPr lang="en-US" dirty="0" smtClean="0"/>
              <a:t> Claim that can be rejected using the test</a:t>
            </a:r>
          </a:p>
          <a:p>
            <a:pPr lvl="1"/>
            <a:r>
              <a:rPr lang="en-US" b="1" dirty="0" smtClean="0"/>
              <a:t>Alternate Hypothesis (H</a:t>
            </a:r>
            <a:r>
              <a:rPr lang="en-US" b="1" baseline="-25000" dirty="0" smtClean="0"/>
              <a:t>a</a:t>
            </a:r>
            <a:r>
              <a:rPr lang="en-US" b="1" dirty="0" smtClean="0"/>
              <a:t>):</a:t>
            </a:r>
            <a:r>
              <a:rPr lang="en-US" dirty="0" smtClean="0"/>
              <a:t> Claim that is the opposite of H</a:t>
            </a:r>
            <a:r>
              <a:rPr lang="en-US" baseline="-25000" dirty="0" smtClean="0"/>
              <a:t>0</a:t>
            </a:r>
          </a:p>
          <a:p>
            <a:pPr lvl="1"/>
            <a:r>
              <a:rPr lang="en-US" dirty="0" smtClean="0"/>
              <a:t>We see if there is enough evidence to reject H</a:t>
            </a:r>
            <a:r>
              <a:rPr lang="en-US" baseline="-25000" dirty="0" smtClean="0"/>
              <a:t>0 </a:t>
            </a:r>
            <a:r>
              <a:rPr lang="en-US" dirty="0" smtClean="0"/>
              <a:t>in favor of H</a:t>
            </a:r>
            <a:r>
              <a:rPr lang="en-US" baseline="-25000" dirty="0" smtClean="0"/>
              <a:t>a</a:t>
            </a:r>
            <a:r>
              <a:rPr lang="en-US" dirty="0" smtClean="0"/>
              <a:t>.  </a:t>
            </a:r>
          </a:p>
          <a:p>
            <a:pPr lvl="2"/>
            <a:endParaRPr lang="en-US" dirty="0" smtClean="0"/>
          </a:p>
          <a:p>
            <a:r>
              <a:rPr lang="en-US" u="sng" dirty="0" smtClean="0"/>
              <a:t>Philosophical point:</a:t>
            </a:r>
            <a:r>
              <a:rPr lang="en-US" dirty="0" smtClean="0"/>
              <a:t> with limited data, we can never accept a hypothesis; only reject it or fail to reject it</a:t>
            </a:r>
          </a:p>
          <a:p>
            <a:endParaRPr lang="en-US" dirty="0"/>
          </a:p>
          <a:p>
            <a:r>
              <a:rPr lang="en-US" dirty="0" smtClean="0"/>
              <a:t>In business applications, we often do say that the data supports a particular hypothesis (e.g., Product 1 is better than Product 2) even though it is not strictly correct!!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80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Judicial Case Analogy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2"/>
            <a:ext cx="8229600" cy="5279128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Court must decide whether defendant is guilty</a:t>
            </a:r>
          </a:p>
          <a:p>
            <a:r>
              <a:rPr lang="en-US" sz="2800" dirty="0" smtClean="0"/>
              <a:t>If there is complete evidence, then guilt can be established by just looking at the evidence (no judge / jury necessary)</a:t>
            </a:r>
          </a:p>
          <a:p>
            <a:pPr lvl="2"/>
            <a:endParaRPr lang="en-US" dirty="0" smtClean="0"/>
          </a:p>
          <a:p>
            <a:r>
              <a:rPr lang="en-US" sz="2800" dirty="0" smtClean="0"/>
              <a:t>With incomplete evidence, prosecution must prove defendant is guilty </a:t>
            </a:r>
            <a:r>
              <a:rPr lang="en-US" sz="2800" u="sng" dirty="0" smtClean="0"/>
              <a:t>beyond reasonable doubt</a:t>
            </a:r>
          </a:p>
          <a:p>
            <a:pPr lvl="1"/>
            <a:r>
              <a:rPr lang="en-US" sz="2400" dirty="0" smtClean="0"/>
              <a:t>Defendant is innocent </a:t>
            </a:r>
            <a:r>
              <a:rPr lang="en-US" sz="2400" dirty="0"/>
              <a:t>until </a:t>
            </a:r>
            <a:r>
              <a:rPr lang="en-US" sz="2400" dirty="0" smtClean="0"/>
              <a:t>proven guilty (why?)</a:t>
            </a:r>
          </a:p>
          <a:p>
            <a:pPr lvl="1"/>
            <a:r>
              <a:rPr lang="en-US" sz="2400" dirty="0" smtClean="0"/>
              <a:t>Null hypothesis: Defendant is innocent</a:t>
            </a:r>
          </a:p>
          <a:p>
            <a:pPr lvl="1"/>
            <a:r>
              <a:rPr lang="en-US" sz="2400" dirty="0" smtClean="0"/>
              <a:t>Alternate hypothesis</a:t>
            </a:r>
            <a:r>
              <a:rPr lang="en-US" sz="2400" dirty="0"/>
              <a:t>: Defendant is </a:t>
            </a:r>
            <a:r>
              <a:rPr lang="en-US" sz="2400" dirty="0" smtClean="0"/>
              <a:t>guilty</a:t>
            </a:r>
          </a:p>
          <a:p>
            <a:pPr lvl="1"/>
            <a:endParaRPr lang="en-US" dirty="0" smtClean="0"/>
          </a:p>
          <a:p>
            <a:r>
              <a:rPr lang="en-US" sz="2800" dirty="0" smtClean="0"/>
              <a:t>Failure to establish guilt beyond reasonable doubt does not mean defendant is innocent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9760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Confidence Level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4523"/>
                <a:ext cx="8382000" cy="481157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We can never be 100% certain in our conclusion from the statistical test, only confident enough </a:t>
                </a:r>
              </a:p>
              <a:p>
                <a:pPr lvl="1"/>
                <a:r>
                  <a:rPr lang="en-US" sz="2400" dirty="0" smtClean="0"/>
                  <a:t>TYPE 1 Error: Incorrectly rejecting H</a:t>
                </a:r>
                <a:r>
                  <a:rPr lang="en-US" sz="2400" baseline="-25000" dirty="0" smtClean="0"/>
                  <a:t>0 </a:t>
                </a:r>
                <a:r>
                  <a:rPr lang="en-US" dirty="0"/>
                  <a:t> </a:t>
                </a:r>
                <a:r>
                  <a:rPr lang="en-US" dirty="0" smtClean="0"/>
                  <a:t>when </a:t>
                </a:r>
                <a:r>
                  <a:rPr lang="en-US" dirty="0"/>
                  <a:t>in fact </a:t>
                </a:r>
                <a:r>
                  <a:rPr lang="en-US" dirty="0" smtClean="0"/>
                  <a:t>it is true</a:t>
                </a:r>
                <a:endParaRPr lang="en-US" dirty="0"/>
              </a:p>
              <a:p>
                <a:pPr lvl="1"/>
                <a:r>
                  <a:rPr lang="en-US" sz="2400" dirty="0" smtClean="0"/>
                  <a:t>TYPE 2 Error: Incorrectly failing to reject H</a:t>
                </a:r>
                <a:r>
                  <a:rPr lang="en-US" sz="2400" baseline="-25000" dirty="0" smtClean="0"/>
                  <a:t>0 </a:t>
                </a:r>
                <a:r>
                  <a:rPr lang="en-US" dirty="0" smtClean="0"/>
                  <a:t> when in </a:t>
                </a:r>
                <a:r>
                  <a:rPr lang="en-US" dirty="0"/>
                  <a:t>fact </a:t>
                </a:r>
                <a:r>
                  <a:rPr lang="en-US" dirty="0" smtClean="0"/>
                  <a:t>it is false</a:t>
                </a:r>
              </a:p>
              <a:p>
                <a:pPr lvl="1"/>
                <a:endParaRPr lang="en-US" sz="2400" baseline="-25000" dirty="0" smtClean="0"/>
              </a:p>
              <a:p>
                <a:r>
                  <a:rPr lang="en-US" dirty="0" smtClean="0"/>
                  <a:t>We set a “</a:t>
                </a:r>
                <a:r>
                  <a:rPr lang="en-US" b="1" dirty="0" smtClean="0"/>
                  <a:t>confidence </a:t>
                </a:r>
                <a:r>
                  <a:rPr lang="en-US" b="1" dirty="0"/>
                  <a:t>level</a:t>
                </a:r>
                <a:r>
                  <a:rPr lang="en-US" dirty="0"/>
                  <a:t>” </a:t>
                </a:r>
                <a:r>
                  <a:rPr lang="en-US" dirty="0" smtClean="0"/>
                  <a:t>in </a:t>
                </a:r>
                <a:r>
                  <a:rPr lang="en-US" dirty="0"/>
                  <a:t>terms of </a:t>
                </a:r>
                <a:r>
                  <a:rPr lang="en-US" dirty="0" smtClean="0"/>
                  <a:t>the Type </a:t>
                </a:r>
                <a:r>
                  <a:rPr lang="en-US" dirty="0"/>
                  <a:t>1 </a:t>
                </a:r>
                <a:r>
                  <a:rPr lang="en-US" dirty="0" smtClean="0"/>
                  <a:t>error rate we are willing to tolerate (denoted as </a:t>
                </a:r>
                <a:r>
                  <a:rPr lang="en-US" b="1" dirty="0" smtClean="0"/>
                  <a:t>significance level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=0.01 </m:t>
                    </m:r>
                  </m:oMath>
                </a14:m>
                <a:r>
                  <a:rPr lang="en-US" dirty="0"/>
                  <a:t>=&gt; We want to be 99% sure that we are not incorrectly rejecting H</a:t>
                </a:r>
                <a:r>
                  <a:rPr lang="en-US" baseline="-25000" dirty="0"/>
                  <a:t>0  </a:t>
                </a:r>
                <a:r>
                  <a:rPr lang="en-US" dirty="0"/>
                  <a:t>when it is true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4523"/>
                <a:ext cx="8382000" cy="4811578"/>
              </a:xfrm>
              <a:blipFill>
                <a:blip r:embed="rId2"/>
                <a:stretch>
                  <a:fillRect l="-1309" t="-1394" r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73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Statistic and Sampling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4522"/>
                <a:ext cx="8382000" cy="537437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“</a:t>
                </a:r>
                <a:r>
                  <a:rPr lang="en-US" b="1" dirty="0"/>
                  <a:t>test statistic</a:t>
                </a:r>
                <a:r>
                  <a:rPr lang="en-US" dirty="0"/>
                  <a:t>” is a number that is calculated from the available data to perform the statistical </a:t>
                </a:r>
                <a:r>
                  <a:rPr lang="en-US" dirty="0" smtClean="0"/>
                  <a:t>test</a:t>
                </a:r>
              </a:p>
              <a:p>
                <a:pPr lvl="1"/>
                <a:r>
                  <a:rPr lang="en-US" dirty="0" smtClean="0"/>
                  <a:t>E.g., sample mean, variance, correlation </a:t>
                </a:r>
              </a:p>
              <a:p>
                <a:r>
                  <a:rPr lang="en-US" dirty="0" smtClean="0"/>
                  <a:t>“</a:t>
                </a:r>
                <a:r>
                  <a:rPr lang="en-US" b="1" dirty="0" smtClean="0"/>
                  <a:t>Sampling Distribution</a:t>
                </a:r>
                <a:r>
                  <a:rPr lang="en-US" dirty="0" smtClean="0"/>
                  <a:t>” is the distribution of the test statistic across all possible samples we could have observed</a:t>
                </a:r>
              </a:p>
              <a:p>
                <a:pPr lvl="1"/>
                <a:r>
                  <a:rPr lang="en-US" dirty="0" smtClean="0"/>
                  <a:t>Accounts for the randomness in the data we got to observe </a:t>
                </a:r>
              </a:p>
              <a:p>
                <a:pPr lvl="1"/>
                <a:r>
                  <a:rPr lang="en-US" dirty="0" smtClean="0"/>
                  <a:t>E.g., standard </a:t>
                </a:r>
                <a:r>
                  <a:rPr lang="en-US" dirty="0"/>
                  <a:t>normal, </a:t>
                </a:r>
                <a:r>
                  <a:rPr lang="en-US" dirty="0" smtClean="0"/>
                  <a:t>t-distribution</a:t>
                </a:r>
                <a:r>
                  <a:rPr lang="en-US" dirty="0"/>
                  <a:t>, F-distribution,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𝜒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distribution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statistical test specifies the sampling </a:t>
                </a:r>
                <a:r>
                  <a:rPr lang="en-US" dirty="0" smtClean="0"/>
                  <a:t>distribution </a:t>
                </a:r>
                <a:r>
                  <a:rPr lang="en-US" dirty="0"/>
                  <a:t>of the test statistic </a:t>
                </a:r>
                <a:r>
                  <a:rPr lang="en-US" b="1" u="sng" dirty="0"/>
                  <a:t>IF H</a:t>
                </a:r>
                <a:r>
                  <a:rPr lang="en-US" b="1" u="sng" baseline="-25000" dirty="0"/>
                  <a:t>0 </a:t>
                </a:r>
                <a:r>
                  <a:rPr lang="en-US" b="1" u="sng" dirty="0"/>
                  <a:t>is </a:t>
                </a:r>
                <a:r>
                  <a:rPr lang="en-US" b="1" u="sng" dirty="0" smtClean="0"/>
                  <a:t>true</a:t>
                </a:r>
                <a:r>
                  <a:rPr lang="en-US" dirty="0" smtClean="0"/>
                  <a:t>…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…under certain assumptions about the population and the 	data generating process (sampling process + noise)</a:t>
                </a:r>
              </a:p>
              <a:p>
                <a:pPr lvl="2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4522"/>
                <a:ext cx="8382000" cy="5374377"/>
              </a:xfrm>
              <a:blipFill>
                <a:blip r:embed="rId2"/>
                <a:stretch>
                  <a:fillRect l="-1309" t="-1249" r="-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95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Statistic and Sampling Distribution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4522"/>
                <a:ext cx="8362950" cy="5374377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Test statistic and sampling distributions have been derived for many commonly used statistical tests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Example: Statistical test for population mean (H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i="1" dirty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Test statistic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follows a standard normal </a:t>
                </a:r>
                <a:r>
                  <a:rPr lang="en-US" dirty="0" smtClean="0"/>
                  <a:t>distribution if H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 is true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i="1" dirty="0"/>
                  <a:t>: </a:t>
                </a:r>
                <a:r>
                  <a:rPr lang="en-US" dirty="0"/>
                  <a:t>sample mean,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: estimate of population standard deviation</a:t>
                </a:r>
              </a:p>
              <a:p>
                <a:pPr lvl="1"/>
                <a:r>
                  <a:rPr lang="en-US" dirty="0"/>
                  <a:t>Central Limit Theorem =&gt; </a:t>
                </a:r>
                <a:r>
                  <a:rPr lang="en-US" dirty="0" smtClean="0"/>
                  <a:t>sample </a:t>
                </a:r>
                <a:r>
                  <a:rPr lang="en-US" dirty="0"/>
                  <a:t>mean follows </a:t>
                </a:r>
                <a:r>
                  <a:rPr lang="en-US" dirty="0" smtClean="0"/>
                  <a:t>normal </a:t>
                </a:r>
                <a:r>
                  <a:rPr lang="en-US" dirty="0"/>
                  <a:t>distribution</a:t>
                </a:r>
              </a:p>
              <a:p>
                <a:pPr lvl="1"/>
                <a:r>
                  <a:rPr lang="en-US" dirty="0" smtClean="0"/>
                  <a:t>Assumptions: Independent observations, sample size sufficiently large (n &gt; 30), sample distribution not skewed (e.g., no outliers, mean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 smtClean="0"/>
                  <a:t> median)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4522"/>
                <a:ext cx="8362950" cy="5374377"/>
              </a:xfrm>
              <a:blipFill>
                <a:blip r:embed="rId2"/>
                <a:stretch>
                  <a:fillRect l="-1458" t="-1249" r="-219" b="-1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15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Performing the Test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4993378"/>
          </a:xfrm>
        </p:spPr>
        <p:txBody>
          <a:bodyPr>
            <a:normAutofit/>
          </a:bodyPr>
          <a:lstStyle/>
          <a:p>
            <a:r>
              <a:rPr lang="en-US" dirty="0" smtClean="0"/>
              <a:t>Compare the value of test statistic in the sample against the sampling distribution</a:t>
            </a:r>
          </a:p>
          <a:p>
            <a:r>
              <a:rPr lang="en-US" dirty="0" smtClean="0"/>
              <a:t>Approach 1: Does test statistic fall in the “</a:t>
            </a:r>
            <a:r>
              <a:rPr lang="en-US" b="1" dirty="0" smtClean="0"/>
              <a:t>rejection region</a:t>
            </a:r>
            <a:r>
              <a:rPr lang="en-US" dirty="0" smtClean="0"/>
              <a:t>” for the set significance level?</a:t>
            </a:r>
          </a:p>
          <a:p>
            <a:r>
              <a:rPr lang="en-US" dirty="0" smtClean="0"/>
              <a:t>Approach 2: Is the “</a:t>
            </a:r>
            <a:r>
              <a:rPr lang="en-US" b="1" dirty="0" smtClean="0"/>
              <a:t>p-value</a:t>
            </a:r>
            <a:r>
              <a:rPr lang="en-US" dirty="0" smtClean="0"/>
              <a:t>” for the test statistic less than the significance level?</a:t>
            </a:r>
          </a:p>
          <a:p>
            <a:r>
              <a:rPr lang="en-US" dirty="0" smtClean="0"/>
              <a:t>Both approaches are equivalent</a:t>
            </a:r>
          </a:p>
          <a:p>
            <a:r>
              <a:rPr lang="en-US" dirty="0" smtClean="0"/>
              <a:t>Reporting p-values provides more information (how confidently we reject / fail to reject H</a:t>
            </a:r>
            <a:r>
              <a:rPr lang="en-US" baseline="-25000" dirty="0" smtClean="0"/>
              <a:t>0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971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0"/>
            <a:ext cx="8877300" cy="982639"/>
          </a:xfrm>
        </p:spPr>
        <p:txBody>
          <a:bodyPr>
            <a:normAutofit/>
          </a:bodyPr>
          <a:lstStyle/>
          <a:p>
            <a:r>
              <a:rPr lang="en-US" dirty="0" smtClean="0"/>
              <a:t>Rejection Region Approach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73011"/>
            <a:ext cx="6510337" cy="334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981200" y="5818909"/>
            <a:ext cx="5638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19400" y="5659580"/>
            <a:ext cx="38862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Possible values for test statistic (T)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474077" y="3564523"/>
            <a:ext cx="228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Probability Density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81001" y="1650558"/>
            <a:ext cx="8762999" cy="3696431"/>
            <a:chOff x="381001" y="1650558"/>
            <a:chExt cx="8762999" cy="3696431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6324600" y="2133600"/>
              <a:ext cx="0" cy="32133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124200" y="2133600"/>
              <a:ext cx="0" cy="32133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414655" y="2556164"/>
              <a:ext cx="2729345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Very unlikely observations (if H</a:t>
              </a:r>
              <a:r>
                <a:rPr lang="en-US" sz="1600" baseline="-25000" dirty="0" smtClean="0"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 is true)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81001" y="2416176"/>
              <a:ext cx="2590800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Very unlikely observations (if H</a:t>
              </a:r>
              <a:r>
                <a:rPr lang="en-US" sz="1600" baseline="-25000" dirty="0" smtClean="0"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 is true)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59968" y="1650558"/>
              <a:ext cx="2438400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More likely observations (if H</a:t>
              </a:r>
              <a:r>
                <a:rPr lang="en-US" sz="1600" baseline="-25000" dirty="0" smtClean="0"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 is true)</a:t>
              </a:r>
            </a:p>
            <a:p>
              <a:pPr algn="ctr"/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952760" y="1223243"/>
            <a:ext cx="7488684" cy="1049768"/>
            <a:chOff x="952760" y="1223243"/>
            <a:chExt cx="7488684" cy="1049768"/>
          </a:xfrm>
        </p:grpSpPr>
        <p:sp>
          <p:nvSpPr>
            <p:cNvPr id="13" name="Right Brace 12"/>
            <p:cNvSpPr/>
            <p:nvPr/>
          </p:nvSpPr>
          <p:spPr>
            <a:xfrm rot="16200000">
              <a:off x="7015076" y="1062990"/>
              <a:ext cx="609600" cy="181044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98307" y="1223244"/>
              <a:ext cx="224313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Reject H</a:t>
              </a:r>
              <a:r>
                <a:rPr lang="en-US" sz="1600" baseline="-25000" dirty="0" smtClean="0"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 if test statistic falls here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Right Brace 20"/>
            <p:cNvSpPr/>
            <p:nvPr/>
          </p:nvSpPr>
          <p:spPr>
            <a:xfrm rot="16200000">
              <a:off x="1769529" y="1062989"/>
              <a:ext cx="609600" cy="181044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2760" y="1223243"/>
              <a:ext cx="2243137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Reject </a:t>
              </a:r>
              <a:r>
                <a:rPr lang="en-US" sz="1600" dirty="0"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1600" baseline="-25000" dirty="0">
                  <a:latin typeface="Arial" pitchFamily="34" charset="0"/>
                  <a:cs typeface="Arial" pitchFamily="34" charset="0"/>
                </a:rPr>
                <a:t>0</a:t>
              </a:r>
              <a:r>
                <a:rPr lang="en-US" sz="1600" dirty="0">
                  <a:latin typeface="Arial" pitchFamily="34" charset="0"/>
                  <a:cs typeface="Arial" pitchFamily="34" charset="0"/>
                </a:rPr>
                <a:t> if </a:t>
              </a:r>
              <a:r>
                <a:rPr lang="en-US" sz="1600" dirty="0" smtClean="0">
                  <a:latin typeface="Arial" pitchFamily="34" charset="0"/>
                  <a:cs typeface="Arial" pitchFamily="34" charset="0"/>
                </a:rPr>
                <a:t>test statistic falls here</a:t>
              </a:r>
              <a:endParaRPr lang="en-US" sz="16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593435" y="4584412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itchFamily="34" charset="0"/>
                <a:cs typeface="Arial" pitchFamily="34" charset="0"/>
              </a:rPr>
              <a:t>SAMPLING DISTRIBUTION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45490" y="4288195"/>
            <a:ext cx="1893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ym typeface="Mathematica1"/>
              </a:rPr>
              <a:t>α/2 </a:t>
            </a:r>
            <a:r>
              <a:rPr lang="en-US" sz="2000" b="1" dirty="0" smtClean="0">
                <a:sym typeface="Mathematica1"/>
              </a:rPr>
              <a:t>probability</a:t>
            </a:r>
            <a:endParaRPr lang="en-US" sz="2000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414655" y="4664242"/>
            <a:ext cx="650406" cy="605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940092" y="4267200"/>
            <a:ext cx="1893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ym typeface="Mathematica1"/>
              </a:rPr>
              <a:t>α/2 </a:t>
            </a:r>
            <a:r>
              <a:rPr lang="en-US" sz="2000" b="1" dirty="0" smtClean="0">
                <a:sym typeface="Mathematica1"/>
              </a:rPr>
              <a:t>probability</a:t>
            </a:r>
            <a:endParaRPr lang="en-US" sz="20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438400" y="4664242"/>
            <a:ext cx="533401" cy="6652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1560" y="5962650"/>
            <a:ext cx="4457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Probability(T&gt;R or T&lt;L) = </a:t>
            </a:r>
            <a:r>
              <a:rPr lang="en-US" sz="2800" b="1" dirty="0" smtClean="0">
                <a:sym typeface="Mathematica1"/>
              </a:rPr>
              <a:t>α</a:t>
            </a:r>
            <a:r>
              <a:rPr lang="en-US" sz="2800" b="1" dirty="0" smtClean="0"/>
              <a:t>  </a:t>
            </a:r>
            <a:endParaRPr lang="en-US" sz="28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6172200" y="5334000"/>
            <a:ext cx="1205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985655" y="5329535"/>
            <a:ext cx="1205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00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8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0"/>
            <a:ext cx="8877300" cy="982639"/>
          </a:xfrm>
        </p:spPr>
        <p:txBody>
          <a:bodyPr>
            <a:normAutofit/>
          </a:bodyPr>
          <a:lstStyle/>
          <a:p>
            <a:r>
              <a:rPr lang="en-US" dirty="0" smtClean="0"/>
              <a:t>P-Value Approach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73011"/>
            <a:ext cx="6510337" cy="334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981200" y="5818909"/>
            <a:ext cx="56388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19400" y="5659580"/>
            <a:ext cx="38862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Arial" pitchFamily="34" charset="0"/>
                <a:cs typeface="Arial" pitchFamily="34" charset="0"/>
              </a:rPr>
              <a:t>Possible values for test statistic (T)</a:t>
            </a:r>
            <a:endParaRPr lang="en-US" sz="1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474077" y="3564523"/>
            <a:ext cx="228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Probability Density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3435" y="4584412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Arial" pitchFamily="34" charset="0"/>
                <a:cs typeface="Arial" pitchFamily="34" charset="0"/>
              </a:rPr>
              <a:t>SAMPLING DISTRIBUTION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45490" y="4288195"/>
            <a:ext cx="18937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ym typeface="Mathematica1"/>
              </a:rPr>
              <a:t>p/2 probability</a:t>
            </a:r>
            <a:endParaRPr lang="en-US" sz="2000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414655" y="4664242"/>
            <a:ext cx="650406" cy="605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54181" y="5962650"/>
            <a:ext cx="293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Reject H</a:t>
            </a:r>
            <a:r>
              <a:rPr lang="en-US" sz="2800" b="1" baseline="-25000" dirty="0" smtClean="0"/>
              <a:t>0</a:t>
            </a:r>
            <a:r>
              <a:rPr lang="en-US" sz="2800" b="1" dirty="0" smtClean="0"/>
              <a:t> if p &lt; </a:t>
            </a:r>
            <a:r>
              <a:rPr lang="en-US" sz="2800" b="1" dirty="0">
                <a:sym typeface="Mathematica1"/>
              </a:rPr>
              <a:t>α</a:t>
            </a:r>
            <a:r>
              <a:rPr lang="en-US" sz="2800" b="1" dirty="0" smtClean="0"/>
              <a:t> </a:t>
            </a:r>
            <a:endParaRPr lang="en-US" sz="28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4982063" y="1298274"/>
            <a:ext cx="2714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Observed value of test statistic</a:t>
            </a:r>
            <a:endParaRPr lang="en-US" dirty="0"/>
          </a:p>
        </p:txBody>
      </p:sp>
      <p:cxnSp>
        <p:nvCxnSpPr>
          <p:cNvPr id="30" name="Straight Connector 29"/>
          <p:cNvCxnSpPr/>
          <p:nvPr/>
        </p:nvCxnSpPr>
        <p:spPr>
          <a:xfrm>
            <a:off x="6324600" y="2133600"/>
            <a:ext cx="0" cy="3213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52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Explaining What a p-value is (NOT)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5336277"/>
          </a:xfrm>
        </p:spPr>
        <p:txBody>
          <a:bodyPr>
            <a:normAutofit/>
          </a:bodyPr>
          <a:lstStyle/>
          <a:p>
            <a:r>
              <a:rPr lang="en-US" dirty="0" smtClean="0"/>
              <a:t>IMPORTANT</a:t>
            </a:r>
            <a:r>
              <a:rPr lang="en-US" dirty="0"/>
              <a:t>: p-value is not </a:t>
            </a:r>
            <a:r>
              <a:rPr lang="en-US" dirty="0" smtClean="0"/>
              <a:t>the probability </a:t>
            </a:r>
            <a:r>
              <a:rPr lang="en-US" dirty="0"/>
              <a:t>that H</a:t>
            </a:r>
            <a:r>
              <a:rPr lang="en-US" baseline="-25000" dirty="0"/>
              <a:t>0</a:t>
            </a:r>
            <a:r>
              <a:rPr lang="en-US" dirty="0"/>
              <a:t> is true given the observed </a:t>
            </a:r>
            <a:r>
              <a:rPr lang="en-US" dirty="0" smtClean="0"/>
              <a:t>data (or 1- probability </a:t>
            </a:r>
            <a:r>
              <a:rPr lang="en-US" dirty="0"/>
              <a:t>that </a:t>
            </a:r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 smtClean="0"/>
              <a:t> is true)</a:t>
            </a:r>
            <a:endParaRPr lang="en-US" dirty="0"/>
          </a:p>
          <a:p>
            <a:pPr lvl="3"/>
            <a:endParaRPr lang="en-US" dirty="0" smtClean="0"/>
          </a:p>
          <a:p>
            <a:r>
              <a:rPr lang="en-US" dirty="0" smtClean="0"/>
              <a:t>Loosely </a:t>
            </a:r>
            <a:r>
              <a:rPr lang="en-US" dirty="0"/>
              <a:t>speaking, it is the probability of observing the data that we got to observe IF H</a:t>
            </a:r>
            <a:r>
              <a:rPr lang="en-US" baseline="-25000" dirty="0"/>
              <a:t>0</a:t>
            </a:r>
            <a:r>
              <a:rPr lang="en-US" dirty="0"/>
              <a:t> is true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Conceptually, p-value </a:t>
            </a:r>
            <a:r>
              <a:rPr lang="en-US" dirty="0"/>
              <a:t>is </a:t>
            </a:r>
            <a:r>
              <a:rPr lang="en-US" dirty="0" smtClean="0"/>
              <a:t>probability </a:t>
            </a:r>
            <a:r>
              <a:rPr lang="en-US" dirty="0"/>
              <a:t>of observing a test statistic that is equal to or more extreme than what we actually observed IF H</a:t>
            </a:r>
            <a:r>
              <a:rPr lang="en-US" baseline="-25000" dirty="0"/>
              <a:t>0</a:t>
            </a:r>
            <a:r>
              <a:rPr lang="en-US" dirty="0"/>
              <a:t> is true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If p-value = </a:t>
            </a:r>
            <a:r>
              <a:rPr lang="en-US" dirty="0"/>
              <a:t>0.001 =&gt; </a:t>
            </a:r>
            <a:r>
              <a:rPr lang="en-US" dirty="0" smtClean="0"/>
              <a:t>0.1</a:t>
            </a:r>
            <a:r>
              <a:rPr lang="en-US" dirty="0"/>
              <a:t>% chance that we would have observed the data that we got to observe </a:t>
            </a:r>
            <a:r>
              <a:rPr lang="en-US" dirty="0" smtClean="0"/>
              <a:t>if H</a:t>
            </a:r>
            <a:r>
              <a:rPr lang="en-US" baseline="-25000" dirty="0" smtClean="0"/>
              <a:t>0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true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889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Descriptive Analysis &amp; Hypothesis Testing</a:t>
            </a:r>
            <a:br>
              <a:rPr lang="en-US" dirty="0"/>
            </a:br>
            <a:r>
              <a:rPr lang="en-US" dirty="0"/>
              <a:t>Part </a:t>
            </a:r>
            <a:r>
              <a:rPr lang="en-US" dirty="0" smtClean="0"/>
              <a:t>III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Customer - Salesperson Study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32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- Salesperson Study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Variables of Interest</a:t>
            </a:r>
          </a:p>
          <a:p>
            <a:pPr lvl="1"/>
            <a:r>
              <a:rPr lang="en-US" dirty="0" err="1" smtClean="0"/>
              <a:t>CustomerNeed</a:t>
            </a:r>
            <a:r>
              <a:rPr lang="en-US" dirty="0" smtClean="0"/>
              <a:t>, </a:t>
            </a:r>
            <a:r>
              <a:rPr lang="en-US" dirty="0" err="1" smtClean="0"/>
              <a:t>SalesInfoAdvice</a:t>
            </a:r>
            <a:r>
              <a:rPr lang="en-US" dirty="0" smtClean="0"/>
              <a:t>, </a:t>
            </a:r>
            <a:r>
              <a:rPr lang="en-US" dirty="0" err="1" smtClean="0"/>
              <a:t>CustomerDecision</a:t>
            </a:r>
            <a:endParaRPr lang="en-US" dirty="0" smtClean="0"/>
          </a:p>
          <a:p>
            <a:r>
              <a:rPr lang="en-US" dirty="0" smtClean="0"/>
              <a:t>Treatment Condition Variables</a:t>
            </a:r>
          </a:p>
          <a:p>
            <a:pPr lvl="1"/>
            <a:r>
              <a:rPr lang="en-US" dirty="0" smtClean="0"/>
              <a:t>Report = IS (Information)/ AP (Advice)</a:t>
            </a:r>
          </a:p>
          <a:p>
            <a:pPr lvl="1"/>
            <a:r>
              <a:rPr lang="en-US" dirty="0" smtClean="0"/>
              <a:t>Repeated = 1 off / Repeated </a:t>
            </a:r>
          </a:p>
          <a:p>
            <a:r>
              <a:rPr lang="en-US" dirty="0" smtClean="0"/>
              <a:t>Additional </a:t>
            </a:r>
            <a:r>
              <a:rPr lang="en-US" dirty="0"/>
              <a:t>Variables</a:t>
            </a:r>
          </a:p>
          <a:p>
            <a:pPr lvl="1"/>
            <a:r>
              <a:rPr lang="en-US" dirty="0" err="1" smtClean="0"/>
              <a:t>HiNeed</a:t>
            </a:r>
            <a:r>
              <a:rPr lang="en-US" dirty="0" smtClean="0"/>
              <a:t> = 1 if </a:t>
            </a:r>
            <a:r>
              <a:rPr lang="en-US" dirty="0" err="1" smtClean="0"/>
              <a:t>CustomerNeed</a:t>
            </a:r>
            <a:r>
              <a:rPr lang="en-US" dirty="0" smtClean="0"/>
              <a:t> &gt; 45, 0 otherwise</a:t>
            </a:r>
          </a:p>
          <a:p>
            <a:pPr lvl="1"/>
            <a:r>
              <a:rPr lang="en-US" dirty="0" err="1" smtClean="0"/>
              <a:t>HiInfoAdvice</a:t>
            </a:r>
            <a:r>
              <a:rPr lang="en-US" dirty="0" smtClean="0"/>
              <a:t> = 1 if </a:t>
            </a:r>
            <a:r>
              <a:rPr lang="en-US" dirty="0" err="1" smtClean="0"/>
              <a:t>SalesInfoAdvice</a:t>
            </a:r>
            <a:r>
              <a:rPr lang="en-US" dirty="0" smtClean="0"/>
              <a:t> &gt; 45, 0 otherwise</a:t>
            </a:r>
          </a:p>
          <a:p>
            <a:pPr lvl="1"/>
            <a:r>
              <a:rPr lang="en-US" dirty="0" err="1" smtClean="0"/>
              <a:t>HiOrder</a:t>
            </a:r>
            <a:r>
              <a:rPr lang="en-US" dirty="0" smtClean="0"/>
              <a:t> = 1 if </a:t>
            </a:r>
            <a:r>
              <a:rPr lang="en-US" dirty="0" err="1" smtClean="0"/>
              <a:t>CustomerDecision</a:t>
            </a:r>
            <a:r>
              <a:rPr lang="en-US" dirty="0" smtClean="0"/>
              <a:t> &gt; 45, 0 otherwise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30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We Want to 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064522"/>
            <a:ext cx="8724900" cy="5417087"/>
          </a:xfrm>
        </p:spPr>
        <p:txBody>
          <a:bodyPr/>
          <a:lstStyle/>
          <a:p>
            <a:r>
              <a:rPr lang="en-US" dirty="0" smtClean="0"/>
              <a:t>Do salespeople reports depend on customer’s true need?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/>
              <a:t>HiInfoAdvice</a:t>
            </a:r>
            <a:r>
              <a:rPr lang="en-US" dirty="0" smtClean="0"/>
              <a:t> related to </a:t>
            </a:r>
            <a:r>
              <a:rPr lang="en-US" dirty="0" err="1" smtClean="0"/>
              <a:t>HiNeed</a:t>
            </a:r>
            <a:r>
              <a:rPr lang="en-US" dirty="0" smtClean="0"/>
              <a:t>? (Chi-square test of independence / test of two proportions)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dirty="0" err="1"/>
              <a:t>HiInfoAdvice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HiNeed</a:t>
            </a:r>
            <a:r>
              <a:rPr lang="en-US" dirty="0" smtClean="0"/>
              <a:t> </a:t>
            </a:r>
            <a:r>
              <a:rPr lang="en-US" dirty="0"/>
              <a:t>Levels </a:t>
            </a:r>
            <a:r>
              <a:rPr lang="en-US" dirty="0" smtClean="0"/>
              <a:t>are Independent</a:t>
            </a:r>
            <a:endParaRPr lang="en-US" dirty="0"/>
          </a:p>
          <a:p>
            <a:pPr lvl="1"/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 smtClean="0"/>
              <a:t>: </a:t>
            </a:r>
            <a:r>
              <a:rPr lang="en-US" dirty="0" err="1"/>
              <a:t>HiInfoAdvice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 err="1" smtClean="0"/>
              <a:t>HiNeed</a:t>
            </a:r>
            <a:r>
              <a:rPr lang="en-US" dirty="0" smtClean="0"/>
              <a:t> </a:t>
            </a:r>
            <a:r>
              <a:rPr lang="en-US" dirty="0"/>
              <a:t>Levels </a:t>
            </a:r>
            <a:r>
              <a:rPr lang="en-US" dirty="0" smtClean="0"/>
              <a:t>are Related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 smtClean="0"/>
              <a:t>SalesInfoAdvice</a:t>
            </a:r>
            <a:r>
              <a:rPr lang="en-US" dirty="0" smtClean="0"/>
              <a:t> related to </a:t>
            </a:r>
            <a:r>
              <a:rPr lang="en-US" dirty="0" err="1" smtClean="0"/>
              <a:t>CustomerNeed</a:t>
            </a:r>
            <a:r>
              <a:rPr lang="en-US" dirty="0" smtClean="0"/>
              <a:t>?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(Test of correlation)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dirty="0" err="1" smtClean="0"/>
              <a:t>CustomerOrder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 smtClean="0"/>
              <a:t>CustomerNeed</a:t>
            </a:r>
            <a:r>
              <a:rPr lang="en-US" dirty="0" smtClean="0"/>
              <a:t> are Independent</a:t>
            </a:r>
            <a:endParaRPr lang="en-US" dirty="0"/>
          </a:p>
          <a:p>
            <a:pPr lvl="1"/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</a:t>
            </a:r>
            <a:r>
              <a:rPr lang="en-US" dirty="0" err="1"/>
              <a:t>CustomerOrder</a:t>
            </a:r>
            <a:r>
              <a:rPr lang="en-US" dirty="0"/>
              <a:t> and </a:t>
            </a:r>
            <a:r>
              <a:rPr lang="en-US" dirty="0" err="1"/>
              <a:t>CustomerNeed</a:t>
            </a:r>
            <a:r>
              <a:rPr lang="en-US" dirty="0"/>
              <a:t> are </a:t>
            </a:r>
            <a:r>
              <a:rPr lang="en-US" dirty="0" smtClean="0"/>
              <a:t>Related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82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We Want to 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064523"/>
            <a:ext cx="8724900" cy="5241028"/>
          </a:xfrm>
        </p:spPr>
        <p:txBody>
          <a:bodyPr>
            <a:normAutofit/>
          </a:bodyPr>
          <a:lstStyle/>
          <a:p>
            <a:r>
              <a:rPr lang="en-US" dirty="0" smtClean="0"/>
              <a:t>Do salespeople inflate their reports?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 smtClean="0"/>
              <a:t>SalesInfoAdvice</a:t>
            </a:r>
            <a:r>
              <a:rPr lang="en-US" dirty="0" smtClean="0"/>
              <a:t> &gt; 45 (One-sample t-test)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dirty="0" smtClean="0"/>
              <a:t>Population mean of </a:t>
            </a:r>
            <a:r>
              <a:rPr lang="en-US" dirty="0" err="1" smtClean="0"/>
              <a:t>SalesInfoAdvice</a:t>
            </a:r>
            <a:r>
              <a:rPr lang="en-US" dirty="0" smtClean="0"/>
              <a:t> &lt;= 45</a:t>
            </a:r>
            <a:endParaRPr lang="en-US" dirty="0"/>
          </a:p>
          <a:p>
            <a:pPr lvl="1"/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 smtClean="0"/>
              <a:t>: </a:t>
            </a:r>
            <a:r>
              <a:rPr lang="en-US" dirty="0"/>
              <a:t>Population mean of </a:t>
            </a:r>
            <a:r>
              <a:rPr lang="en-US" dirty="0" err="1" smtClean="0"/>
              <a:t>SalesInfo</a:t>
            </a:r>
            <a:r>
              <a:rPr lang="en-US" dirty="0" err="1"/>
              <a:t>Advice</a:t>
            </a:r>
            <a:r>
              <a:rPr lang="en-US" dirty="0"/>
              <a:t> </a:t>
            </a:r>
            <a:r>
              <a:rPr lang="en-US" dirty="0" smtClean="0"/>
              <a:t>&gt; 45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 smtClean="0"/>
              <a:t>SalesInfoAdvice</a:t>
            </a:r>
            <a:r>
              <a:rPr lang="en-US" dirty="0" smtClean="0"/>
              <a:t> &gt; </a:t>
            </a:r>
            <a:r>
              <a:rPr lang="en-US" dirty="0" err="1" smtClean="0"/>
              <a:t>CustomerNeed</a:t>
            </a:r>
            <a:r>
              <a:rPr lang="en-US" dirty="0" smtClean="0"/>
              <a:t>? (Paired sample t-test)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dirty="0" err="1"/>
              <a:t>SalesInfoAdvice</a:t>
            </a:r>
            <a:r>
              <a:rPr lang="en-US" dirty="0"/>
              <a:t> </a:t>
            </a:r>
            <a:r>
              <a:rPr lang="en-US" dirty="0" smtClean="0"/>
              <a:t>&lt;= </a:t>
            </a:r>
            <a:r>
              <a:rPr lang="en-US" dirty="0" err="1" smtClean="0"/>
              <a:t>CustomerNeed</a:t>
            </a:r>
            <a:endParaRPr lang="en-US" dirty="0" smtClean="0"/>
          </a:p>
          <a:p>
            <a:pPr lvl="1"/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/>
              <a:t>: </a:t>
            </a:r>
            <a:r>
              <a:rPr lang="en-US" dirty="0" err="1"/>
              <a:t>SalesInfoAdvice</a:t>
            </a:r>
            <a:r>
              <a:rPr lang="en-US" dirty="0" smtClean="0"/>
              <a:t> &gt; </a:t>
            </a:r>
            <a:r>
              <a:rPr lang="en-US" dirty="0" err="1" smtClean="0"/>
              <a:t>CustomerNeed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84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We Want to Answer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064523"/>
            <a:ext cx="8724900" cy="5241028"/>
          </a:xfrm>
        </p:spPr>
        <p:txBody>
          <a:bodyPr>
            <a:normAutofit/>
          </a:bodyPr>
          <a:lstStyle/>
          <a:p>
            <a:r>
              <a:rPr lang="en-US" dirty="0" smtClean="0"/>
              <a:t>Do salespeople inflate more if giving advice?</a:t>
            </a:r>
          </a:p>
          <a:p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 err="1" smtClean="0"/>
              <a:t>SalesInfoAdvice</a:t>
            </a:r>
            <a:r>
              <a:rPr lang="en-US" dirty="0" smtClean="0"/>
              <a:t> for IS &gt; </a:t>
            </a:r>
            <a:r>
              <a:rPr lang="en-US" dirty="0" err="1" smtClean="0"/>
              <a:t>SalesInfoAdvice</a:t>
            </a:r>
            <a:r>
              <a:rPr lang="en-US" dirty="0" smtClean="0"/>
              <a:t> for AP?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(Two sample t-test)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dirty="0" err="1"/>
              <a:t>SalesInfoAdvice</a:t>
            </a:r>
            <a:r>
              <a:rPr lang="en-US" dirty="0"/>
              <a:t> for IS </a:t>
            </a:r>
            <a:r>
              <a:rPr lang="en-US" dirty="0" smtClean="0"/>
              <a:t>&lt;= </a:t>
            </a:r>
            <a:r>
              <a:rPr lang="en-US" dirty="0" err="1" smtClean="0"/>
              <a:t>SalesInfoAdvice</a:t>
            </a:r>
            <a:r>
              <a:rPr lang="en-US" dirty="0" smtClean="0"/>
              <a:t> for AP</a:t>
            </a:r>
          </a:p>
          <a:p>
            <a:pPr lvl="1"/>
            <a:r>
              <a:rPr lang="en-US" dirty="0" smtClean="0"/>
              <a:t>H</a:t>
            </a:r>
            <a:r>
              <a:rPr lang="en-US" baseline="-25000" dirty="0" smtClean="0"/>
              <a:t>a</a:t>
            </a:r>
            <a:r>
              <a:rPr lang="en-US" dirty="0"/>
              <a:t>: </a:t>
            </a:r>
            <a:r>
              <a:rPr lang="en-US" dirty="0" err="1"/>
              <a:t>SalesInfoAdvice</a:t>
            </a:r>
            <a:r>
              <a:rPr lang="en-US" dirty="0"/>
              <a:t> for IS &gt; </a:t>
            </a:r>
            <a:r>
              <a:rPr lang="en-US" dirty="0" err="1"/>
              <a:t>SalesInfoAdvice</a:t>
            </a:r>
            <a:r>
              <a:rPr lang="en-US" dirty="0"/>
              <a:t> for </a:t>
            </a:r>
            <a:r>
              <a:rPr lang="en-US" dirty="0" smtClean="0"/>
              <a:t>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74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Hypothesis </a:t>
            </a:r>
            <a:r>
              <a:rPr lang="en-US" dirty="0" smtClean="0"/>
              <a:t>Testing Examples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Upender Subramanian</a:t>
            </a:r>
          </a:p>
          <a:p>
            <a:r>
              <a:rPr lang="en-US" dirty="0" smtClean="0"/>
              <a:t>MKT/BUAN 6337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45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direct marketing company would like to determine whether high income and low income households differed in their response rate to promotional offers.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randomly selected 1000 low-income households and 1000 high-income household and mailed them both the same promotional offer. </a:t>
            </a:r>
            <a:endParaRPr lang="en-US" dirty="0" smtClean="0"/>
          </a:p>
          <a:p>
            <a:r>
              <a:rPr lang="en-US" smtClean="0"/>
              <a:t>It recorded </a:t>
            </a:r>
            <a:r>
              <a:rPr lang="en-US" dirty="0"/>
              <a:t>the number of high-income and low-income households responding to the promotional offer.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statistical test would you perform to determine whether the response rate differed between the two types of households? State the null and alternate hypothesis?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7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Approach 1: Chi-square test of independence</a:t>
            </a:r>
          </a:p>
          <a:p>
            <a:pPr lvl="1"/>
            <a:r>
              <a:rPr lang="en-US" dirty="0" smtClean="0"/>
              <a:t>Variable 1: Whether household responded</a:t>
            </a:r>
          </a:p>
          <a:p>
            <a:pPr lvl="1"/>
            <a:r>
              <a:rPr lang="en-US" dirty="0" smtClean="0"/>
              <a:t>Variable 2: Whether household is low-income or not</a:t>
            </a:r>
          </a:p>
          <a:p>
            <a:pPr lvl="1"/>
            <a:r>
              <a:rPr lang="en-US" dirty="0" smtClean="0"/>
              <a:t>H0: Type of household is not related to household response</a:t>
            </a:r>
          </a:p>
          <a:p>
            <a:pPr lvl="1"/>
            <a:r>
              <a:rPr lang="en-US" dirty="0" smtClean="0"/>
              <a:t>HA: </a:t>
            </a:r>
            <a:r>
              <a:rPr lang="en-US" dirty="0"/>
              <a:t>Type of household </a:t>
            </a:r>
            <a:r>
              <a:rPr lang="en-US" dirty="0" smtClean="0"/>
              <a:t>and household response are related</a:t>
            </a:r>
          </a:p>
          <a:p>
            <a:r>
              <a:rPr lang="en-US" dirty="0" smtClean="0"/>
              <a:t>Approach 2: Test of proportions</a:t>
            </a:r>
          </a:p>
          <a:p>
            <a:pPr lvl="1"/>
            <a:r>
              <a:rPr lang="en-US" dirty="0" smtClean="0"/>
              <a:t>Proportion 1: % households responding amongst high-income</a:t>
            </a:r>
          </a:p>
          <a:p>
            <a:pPr lvl="1"/>
            <a:r>
              <a:rPr lang="en-US" dirty="0" smtClean="0"/>
              <a:t>Proportion 2: </a:t>
            </a:r>
            <a:r>
              <a:rPr lang="en-US" dirty="0"/>
              <a:t>% households responding amongst </a:t>
            </a:r>
            <a:r>
              <a:rPr lang="en-US" dirty="0" smtClean="0"/>
              <a:t>low-income</a:t>
            </a:r>
          </a:p>
          <a:p>
            <a:pPr lvl="1"/>
            <a:r>
              <a:rPr lang="en-US" dirty="0" smtClean="0"/>
              <a:t>H0: Two proportions are equal</a:t>
            </a:r>
          </a:p>
          <a:p>
            <a:pPr lvl="1"/>
            <a:r>
              <a:rPr lang="en-US" dirty="0" smtClean="0"/>
              <a:t>Ha: Two proportions are not equal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4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5855"/>
            <a:ext cx="8229600" cy="579347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cable service company would like to check how the level of customer service they provide affects customers’ behavior at the time of renewing their contract.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randomly assigned 1000 customers each to three different tiers of service – “gold”, “silver” and “bronze”. They recorded whether these customers subsequently renewed, upgraded or canceled their contracts at the time of renewing their contracts.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kind of statistical test would you perform to determine whether the level of customer service affected customer behavior? State the null and alternate hypothesis.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statistical test would you perform to determine whether gold service led to higher rates of renewal (includes upgrades) than bronze or silver?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1: Chi-square test of independence</a:t>
            </a:r>
          </a:p>
          <a:p>
            <a:pPr lvl="1"/>
            <a:r>
              <a:rPr lang="en-US" dirty="0" smtClean="0"/>
              <a:t>Variable 1: Level of service (3 levels)</a:t>
            </a:r>
          </a:p>
          <a:p>
            <a:pPr lvl="1"/>
            <a:r>
              <a:rPr lang="en-US" dirty="0" smtClean="0"/>
              <a:t>Variable 2: Customer response (3 levels)</a:t>
            </a:r>
          </a:p>
          <a:p>
            <a:pPr lvl="1"/>
            <a:r>
              <a:rPr lang="en-US" dirty="0"/>
              <a:t>H0: </a:t>
            </a:r>
            <a:r>
              <a:rPr lang="en-US" dirty="0" smtClean="0"/>
              <a:t>Customer response and Level of service are not related</a:t>
            </a:r>
          </a:p>
          <a:p>
            <a:pPr lvl="1"/>
            <a:r>
              <a:rPr lang="en-US" dirty="0" smtClean="0"/>
              <a:t>HA: </a:t>
            </a:r>
            <a:r>
              <a:rPr lang="en-US" dirty="0"/>
              <a:t>Customer response and Level of service are </a:t>
            </a:r>
            <a:r>
              <a:rPr lang="en-US" dirty="0" smtClean="0"/>
              <a:t>related</a:t>
            </a:r>
          </a:p>
          <a:p>
            <a:r>
              <a:rPr lang="en-US" dirty="0" smtClean="0"/>
              <a:t>Step 2: Test of proportions</a:t>
            </a:r>
          </a:p>
          <a:p>
            <a:pPr lvl="1"/>
            <a:r>
              <a:rPr lang="en-US" dirty="0" smtClean="0"/>
              <a:t>Proportions: % of customers renewing in each service tier</a:t>
            </a:r>
          </a:p>
          <a:p>
            <a:pPr lvl="1"/>
            <a:r>
              <a:rPr lang="en-US" dirty="0" smtClean="0"/>
              <a:t>One-tailed test of proportions to compare % in gold and silver</a:t>
            </a:r>
            <a:endParaRPr lang="en-US" dirty="0"/>
          </a:p>
          <a:p>
            <a:pPr lvl="1"/>
            <a:r>
              <a:rPr lang="en-US" dirty="0"/>
              <a:t>One-tailed test of proportions to compare % in gold and </a:t>
            </a:r>
            <a:r>
              <a:rPr lang="en-US" dirty="0" smtClean="0"/>
              <a:t>bronze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8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marketing manager would like to test whether store sales increased after a new layout was introduced. </a:t>
            </a:r>
            <a:endParaRPr lang="en-US" dirty="0" smtClean="0"/>
          </a:p>
          <a:p>
            <a:r>
              <a:rPr lang="en-US" dirty="0" smtClean="0"/>
              <a:t>He </a:t>
            </a:r>
            <a:r>
              <a:rPr lang="en-US" dirty="0"/>
              <a:t>collected the sales data for 100 stores before the layout was changed, and after the layout was changed.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statistical test would you do to determine whether store sales increased with the new layout? State the null and alternate hypothesis.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3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One-tailed paired sample test</a:t>
            </a:r>
          </a:p>
          <a:p>
            <a:pPr lvl="1"/>
            <a:r>
              <a:rPr lang="en-US" dirty="0" smtClean="0"/>
              <a:t>Before and after data come from the same store</a:t>
            </a:r>
          </a:p>
          <a:p>
            <a:pPr lvl="1"/>
            <a:r>
              <a:rPr lang="en-US" dirty="0" smtClean="0"/>
              <a:t>So samples are not independent, same store is sampled twice (before and after)</a:t>
            </a:r>
          </a:p>
          <a:p>
            <a:pPr lvl="1"/>
            <a:r>
              <a:rPr lang="en-US" dirty="0" smtClean="0"/>
              <a:t>H0: Sales after layout change &lt;= Sales before layout change</a:t>
            </a:r>
          </a:p>
          <a:p>
            <a:pPr lvl="1"/>
            <a:r>
              <a:rPr lang="en-US" dirty="0" smtClean="0"/>
              <a:t>HA: Sales after layout change &gt; Sales before layout change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8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4523"/>
            <a:ext cx="8229600" cy="5251610"/>
          </a:xfrm>
        </p:spPr>
        <p:txBody>
          <a:bodyPr>
            <a:normAutofit/>
          </a:bodyPr>
          <a:lstStyle/>
          <a:p>
            <a:r>
              <a:rPr lang="en-US" dirty="0"/>
              <a:t>A marketing </a:t>
            </a:r>
            <a:r>
              <a:rPr lang="en-US" dirty="0" smtClean="0"/>
              <a:t>manager would </a:t>
            </a:r>
            <a:r>
              <a:rPr lang="en-US" dirty="0"/>
              <a:t>like to determine whether a new sales layout will increase store sales. </a:t>
            </a:r>
            <a:endParaRPr lang="en-US" dirty="0" smtClean="0"/>
          </a:p>
          <a:p>
            <a:r>
              <a:rPr lang="en-US" dirty="0" smtClean="0"/>
              <a:t>He </a:t>
            </a:r>
            <a:r>
              <a:rPr lang="en-US" dirty="0"/>
              <a:t>randomly selected a sample of 50 stores to implement the layout change and another random sample of 50 stores to continue the same layout. </a:t>
            </a:r>
            <a:r>
              <a:rPr lang="en-US" dirty="0" smtClean="0"/>
              <a:t>The </a:t>
            </a:r>
            <a:r>
              <a:rPr lang="en-US" dirty="0"/>
              <a:t>marketing actions were kept the same between all 100 stores.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3 months, the sales data for all 100 stores was collected. </a:t>
            </a:r>
            <a:endParaRPr lang="en-US" dirty="0" smtClean="0"/>
          </a:p>
          <a:p>
            <a:r>
              <a:rPr lang="en-US" dirty="0" smtClean="0"/>
              <a:t>What </a:t>
            </a:r>
            <a:r>
              <a:rPr lang="en-US" dirty="0"/>
              <a:t>statistical test would you perform to determine whether store sales increased with the new layout? State the null and alternate hypothesis.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04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One-tailed two-independent sample t-test</a:t>
            </a:r>
          </a:p>
          <a:p>
            <a:pPr lvl="1"/>
            <a:r>
              <a:rPr lang="en-US" dirty="0" smtClean="0"/>
              <a:t>The 50 test and 50 control stores are independent samples</a:t>
            </a:r>
          </a:p>
          <a:p>
            <a:pPr lvl="1"/>
            <a:r>
              <a:rPr lang="en-US" dirty="0" smtClean="0"/>
              <a:t>H0: Sales of test stores &lt;= Sales of control stores</a:t>
            </a:r>
          </a:p>
          <a:p>
            <a:pPr lvl="1"/>
            <a:r>
              <a:rPr lang="en-US" dirty="0" smtClean="0"/>
              <a:t>HA: </a:t>
            </a:r>
            <a:r>
              <a:rPr lang="en-US" dirty="0"/>
              <a:t>Sales of test stores </a:t>
            </a:r>
            <a:r>
              <a:rPr lang="en-US" dirty="0" smtClean="0"/>
              <a:t>&gt; </a:t>
            </a:r>
            <a:r>
              <a:rPr lang="en-US" dirty="0"/>
              <a:t>Sales of control </a:t>
            </a:r>
            <a:r>
              <a:rPr lang="en-US" dirty="0" smtClean="0"/>
              <a:t>stores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901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Chi-Square Test of Independence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686800" cy="4525963"/>
              </a:xfrm>
            </p:spPr>
            <p:txBody>
              <a:bodyPr/>
              <a:lstStyle/>
              <a:p>
                <a:r>
                  <a:rPr lang="en-US" b="1" u="sng" dirty="0" smtClean="0"/>
                  <a:t>H0:</a:t>
                </a:r>
                <a:r>
                  <a:rPr lang="en-US" dirty="0" smtClean="0"/>
                  <a:t> Two Categorical Variables Are Independent</a:t>
                </a:r>
              </a:p>
              <a:p>
                <a:r>
                  <a:rPr lang="en-US" b="1" u="sng" dirty="0" smtClean="0"/>
                  <a:t>HA:</a:t>
                </a:r>
                <a:r>
                  <a:rPr lang="en-US" dirty="0" smtClean="0"/>
                  <a:t> Two Categorical Variables Are Related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Test Statistic: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𝑂𝑏𝑠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𝐸𝑥𝑝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𝐸𝑥𝑝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 smtClean="0"/>
                  <a:t> follows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 smtClean="0"/>
                  <a:t> distribution</a:t>
                </a:r>
              </a:p>
              <a:p>
                <a:pPr lvl="1"/>
                <a:r>
                  <a:rPr lang="en-US" dirty="0" err="1" smtClean="0"/>
                  <a:t>Obs</a:t>
                </a:r>
                <a:r>
                  <a:rPr lang="en-US" dirty="0" smtClean="0"/>
                  <a:t>: Observed cell frequency</a:t>
                </a:r>
              </a:p>
              <a:p>
                <a:pPr lvl="1"/>
                <a:r>
                  <a:rPr lang="en-US" dirty="0" err="1" smtClean="0"/>
                  <a:t>Exp</a:t>
                </a:r>
                <a:r>
                  <a:rPr lang="en-US" dirty="0" smtClean="0"/>
                  <a:t>: Expected cell frequency (under independence)</a:t>
                </a:r>
              </a:p>
              <a:p>
                <a:pPr lvl="1"/>
                <a:r>
                  <a:rPr lang="en-US" dirty="0" smtClean="0"/>
                  <a:t>Expected number should be &gt; 5 for all cells in the table</a:t>
                </a:r>
              </a:p>
              <a:p>
                <a:pPr lvl="1"/>
                <a:r>
                  <a:rPr lang="en-US" dirty="0" smtClean="0"/>
                  <a:t>Random sampling, independent samples (no relation between the two samples)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686800" cy="4525963"/>
              </a:xfrm>
              <a:blipFill>
                <a:blip r:embed="rId2"/>
                <a:stretch>
                  <a:fillRect l="-1263" t="-1482" b="-2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09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for Example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84853810"/>
              </p:ext>
            </p:extLst>
          </p:nvPr>
        </p:nvGraphicFramePr>
        <p:xfrm>
          <a:off x="190501" y="1143000"/>
          <a:ext cx="3751826" cy="4622779"/>
        </p:xfrm>
        <a:graphic>
          <a:graphicData uri="http://schemas.openxmlformats.org/drawingml/2006/table">
            <a:tbl>
              <a:tblPr/>
              <a:tblGrid>
                <a:gridCol w="1100624">
                  <a:extLst>
                    <a:ext uri="{9D8B030D-6E8A-4147-A177-3AD203B41FA5}">
                      <a16:colId xmlns:a16="http://schemas.microsoft.com/office/drawing/2014/main" val="1043985882"/>
                    </a:ext>
                  </a:extLst>
                </a:gridCol>
                <a:gridCol w="883734">
                  <a:extLst>
                    <a:ext uri="{9D8B030D-6E8A-4147-A177-3AD203B41FA5}">
                      <a16:colId xmlns:a16="http://schemas.microsoft.com/office/drawing/2014/main" val="659769829"/>
                    </a:ext>
                  </a:extLst>
                </a:gridCol>
                <a:gridCol w="883734">
                  <a:extLst>
                    <a:ext uri="{9D8B030D-6E8A-4147-A177-3AD203B41FA5}">
                      <a16:colId xmlns:a16="http://schemas.microsoft.com/office/drawing/2014/main" val="1249978525"/>
                    </a:ext>
                  </a:extLst>
                </a:gridCol>
                <a:gridCol w="883734">
                  <a:extLst>
                    <a:ext uri="{9D8B030D-6E8A-4147-A177-3AD203B41FA5}">
                      <a16:colId xmlns:a16="http://schemas.microsoft.com/office/drawing/2014/main" val="3461114867"/>
                    </a:ext>
                  </a:extLst>
                </a:gridCol>
              </a:tblGrid>
              <a:tr h="275205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Table of 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HiNeed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by </a:t>
                      </a: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HiInfoAdvice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691490"/>
                  </a:ext>
                </a:extLst>
              </a:tr>
              <a:tr h="2752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HiNeed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HiInfoAdvice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744895"/>
                  </a:ext>
                </a:extLst>
              </a:tr>
              <a:tr h="110081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Frequency</a:t>
                      </a:r>
                      <a:b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Percent</a:t>
                      </a:r>
                      <a:b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Row 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Pct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/>
                      </a:r>
                      <a:b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Col 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Pct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340008"/>
                  </a:ext>
                </a:extLst>
              </a:tr>
              <a:tr h="10006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211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31.97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58.61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96.79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149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22.58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41.39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33.71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360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54.55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/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589079"/>
                  </a:ext>
                </a:extLst>
              </a:tr>
              <a:tr h="100067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1.06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2.33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3.21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293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44.39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97.67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66.29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300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45.45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/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918240"/>
                  </a:ext>
                </a:extLst>
              </a:tr>
              <a:tr h="5003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Total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218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33.03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442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66.97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660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100.00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1424" marR="614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052729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92055005"/>
              </p:ext>
            </p:extLst>
          </p:nvPr>
        </p:nvGraphicFramePr>
        <p:xfrm>
          <a:off x="4263073" y="1971480"/>
          <a:ext cx="4595176" cy="3228467"/>
        </p:xfrm>
        <a:graphic>
          <a:graphicData uri="http://schemas.openxmlformats.org/drawingml/2006/table">
            <a:tbl>
              <a:tblPr/>
              <a:tblGrid>
                <a:gridCol w="2539273">
                  <a:extLst>
                    <a:ext uri="{9D8B030D-6E8A-4147-A177-3AD203B41FA5}">
                      <a16:colId xmlns:a16="http://schemas.microsoft.com/office/drawing/2014/main" val="3893640335"/>
                    </a:ext>
                  </a:extLst>
                </a:gridCol>
                <a:gridCol w="474754">
                  <a:extLst>
                    <a:ext uri="{9D8B030D-6E8A-4147-A177-3AD203B41FA5}">
                      <a16:colId xmlns:a16="http://schemas.microsoft.com/office/drawing/2014/main" val="1847868710"/>
                    </a:ext>
                  </a:extLst>
                </a:gridCol>
                <a:gridCol w="930018">
                  <a:extLst>
                    <a:ext uri="{9D8B030D-6E8A-4147-A177-3AD203B41FA5}">
                      <a16:colId xmlns:a16="http://schemas.microsoft.com/office/drawing/2014/main" val="3755443771"/>
                    </a:ext>
                  </a:extLst>
                </a:gridCol>
                <a:gridCol w="651131">
                  <a:extLst>
                    <a:ext uri="{9D8B030D-6E8A-4147-A177-3AD203B41FA5}">
                      <a16:colId xmlns:a16="http://schemas.microsoft.com/office/drawing/2014/main" val="37338791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Statistic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DF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Value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Prob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753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Chi-Square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234.2949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0301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Likelihood Ratio Chi-Square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282.6184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319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Continuity Adj. Chi-Square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231.7576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01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Mantel-Haenszel Chi-Square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233.9399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72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 Coefficient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0.5958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917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Contingency Coefficient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0.5118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542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Cramer's V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0.5958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56961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33350" y="5810250"/>
            <a:ext cx="8972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Above results are for all treatment conditions taken together. See posted SAS code for obtaining results for each treatment condition separately.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7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0"/>
            <a:ext cx="8801100" cy="982639"/>
          </a:xfrm>
        </p:spPr>
        <p:txBody>
          <a:bodyPr>
            <a:normAutofit/>
          </a:bodyPr>
          <a:lstStyle/>
          <a:p>
            <a:r>
              <a:rPr lang="en-US" dirty="0" smtClean="0"/>
              <a:t>Test of Proportions in Independent Samples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b="1" u="sng" dirty="0" smtClean="0"/>
                  <a:t>H0:</a:t>
                </a:r>
                <a:r>
                  <a:rPr lang="en-US" dirty="0" smtClean="0"/>
                  <a:t> Proportions are the same (p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 = p</a:t>
                </a:r>
                <a:r>
                  <a:rPr lang="en-US" baseline="-25000" dirty="0" smtClean="0"/>
                  <a:t>2</a:t>
                </a:r>
                <a:r>
                  <a:rPr lang="en-US" dirty="0" smtClean="0"/>
                  <a:t>)</a:t>
                </a:r>
              </a:p>
              <a:p>
                <a:r>
                  <a:rPr lang="en-US" b="1" u="sng" dirty="0" smtClean="0"/>
                  <a:t>HA:</a:t>
                </a:r>
                <a:r>
                  <a:rPr lang="en-US" dirty="0" smtClean="0"/>
                  <a:t> Proportions are different (p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 ≠ p</a:t>
                </a:r>
                <a:r>
                  <a:rPr lang="en-US" baseline="-25000" dirty="0" smtClean="0"/>
                  <a:t>2</a:t>
                </a:r>
                <a:r>
                  <a:rPr lang="en-US" dirty="0" smtClean="0"/>
                  <a:t>)</a:t>
                </a:r>
              </a:p>
              <a:p>
                <a:pPr lvl="2"/>
                <a:endParaRPr lang="en-US" dirty="0" smtClean="0"/>
              </a:p>
              <a:p>
                <a:r>
                  <a:rPr lang="en-US" dirty="0" smtClean="0"/>
                  <a:t>Test statistic: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en-US" dirty="0" smtClean="0"/>
                  <a:t> follows a z-distribution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: Observed proportions in each sample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: Sample sizes</a:t>
                </a:r>
              </a:p>
              <a:p>
                <a:pPr lvl="1"/>
                <a:r>
                  <a:rPr lang="en-US" dirty="0" smtClean="0"/>
                  <a:t>Independent samples</a:t>
                </a:r>
              </a:p>
              <a:p>
                <a:pPr lvl="1"/>
                <a:r>
                  <a:rPr lang="en-US" dirty="0" smtClean="0"/>
                  <a:t>At least 10 observations in each of the two possible categorical outcomes in both samples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4800600"/>
              </a:xfrm>
              <a:blipFill>
                <a:blip r:embed="rId2"/>
                <a:stretch>
                  <a:fillRect l="-1333" t="-1269" b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772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of Proportions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791200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One-sided tests: H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or H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aseline="-25000" dirty="0" smtClean="0"/>
                  <a:t> </a:t>
                </a:r>
              </a:p>
              <a:p>
                <a:pPr lvl="1"/>
                <a:r>
                  <a:rPr lang="en-US" dirty="0" smtClean="0"/>
                  <a:t>Use </a:t>
                </a:r>
                <a:r>
                  <a:rPr lang="en-US" dirty="0"/>
                  <a:t>only if there is prior reason to believe </a:t>
                </a:r>
                <a:r>
                  <a:rPr lang="en-US" dirty="0" smtClean="0"/>
                  <a:t>one proportion is smaller (e.g., new ad is expected to be better than old ad)</a:t>
                </a:r>
              </a:p>
              <a:p>
                <a:pPr lvl="1"/>
                <a:r>
                  <a:rPr lang="en-US" dirty="0" smtClean="0"/>
                  <a:t>Rejection region – only considers one side of distribution; Requires less extreme values on that side than a two-tailed test</a:t>
                </a:r>
              </a:p>
              <a:p>
                <a:pPr lvl="1"/>
                <a:r>
                  <a:rPr lang="en-US" dirty="0"/>
                  <a:t>p</a:t>
                </a:r>
                <a:r>
                  <a:rPr lang="en-US" dirty="0" smtClean="0"/>
                  <a:t>-value – half the p-value of two-sided test</a:t>
                </a:r>
              </a:p>
              <a:p>
                <a:pPr lvl="1"/>
                <a:r>
                  <a:rPr lang="en-US" dirty="0" smtClean="0"/>
                  <a:t>Easier to </a:t>
                </a:r>
                <a:r>
                  <a:rPr lang="en-US" dirty="0"/>
                  <a:t>reject </a:t>
                </a:r>
                <a:r>
                  <a:rPr lang="en-US" dirty="0" smtClean="0"/>
                  <a:t>H</a:t>
                </a:r>
                <a:r>
                  <a:rPr lang="en-US" baseline="-25000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791200"/>
              </a:xfrm>
              <a:blipFill>
                <a:blip r:embed="rId2"/>
                <a:stretch>
                  <a:fillRect l="-1333" t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17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of Correlation (Pearson)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u="sng" dirty="0" smtClean="0"/>
                  <a:t>H0:</a:t>
                </a:r>
                <a:r>
                  <a:rPr lang="en-US" dirty="0" smtClean="0"/>
                  <a:t> Two Numeric Variables </a:t>
                </a:r>
                <a:r>
                  <a:rPr lang="en-US" dirty="0"/>
                  <a:t>Are </a:t>
                </a:r>
                <a:r>
                  <a:rPr lang="en-US" u="sng" dirty="0" smtClean="0"/>
                  <a:t>Linearly </a:t>
                </a:r>
                <a:r>
                  <a:rPr lang="en-US" dirty="0" smtClean="0"/>
                  <a:t>Independent</a:t>
                </a:r>
              </a:p>
              <a:p>
                <a:r>
                  <a:rPr lang="en-US" b="1" u="sng" dirty="0" smtClean="0"/>
                  <a:t>HA:</a:t>
                </a:r>
                <a:r>
                  <a:rPr lang="en-US" dirty="0" smtClean="0"/>
                  <a:t> Two Numeric Variables Are </a:t>
                </a:r>
                <a:r>
                  <a:rPr lang="en-US" u="sng" dirty="0" smtClean="0"/>
                  <a:t>Linearly </a:t>
                </a:r>
                <a:r>
                  <a:rPr lang="en-US" dirty="0" smtClean="0"/>
                  <a:t>dependent</a:t>
                </a:r>
              </a:p>
              <a:p>
                <a:endParaRPr lang="en-US" dirty="0" smtClean="0"/>
              </a:p>
              <a:p>
                <a:r>
                  <a:rPr lang="en-US" b="1" u="sng" dirty="0" smtClean="0"/>
                  <a:t>Test Statistic: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smtClean="0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𝑋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𝑌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dirty="0" smtClean="0"/>
                  <a:t> follows a t-distribution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i="1" dirty="0" smtClean="0">
                    <a:latin typeface="Cambria Math"/>
                  </a:rPr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: mean of X and 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dirty="0" smtClean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 smtClean="0"/>
                  <a:t> : </a:t>
                </a:r>
                <a:r>
                  <a:rPr lang="en-US" dirty="0" err="1" smtClean="0"/>
                  <a:t>std</a:t>
                </a:r>
                <a:r>
                  <a:rPr lang="en-US" dirty="0" smtClean="0"/>
                  <a:t> dev of X and Y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One-sided test possible (H0: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or H0: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0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for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381365"/>
              </p:ext>
            </p:extLst>
          </p:nvPr>
        </p:nvGraphicFramePr>
        <p:xfrm>
          <a:off x="457201" y="1368424"/>
          <a:ext cx="7543800" cy="1467485"/>
        </p:xfrm>
        <a:graphic>
          <a:graphicData uri="http://schemas.openxmlformats.org/drawingml/2006/table">
            <a:tbl>
              <a:tblPr/>
              <a:tblGrid>
                <a:gridCol w="2056314">
                  <a:extLst>
                    <a:ext uri="{9D8B030D-6E8A-4147-A177-3AD203B41FA5}">
                      <a16:colId xmlns:a16="http://schemas.microsoft.com/office/drawing/2014/main" val="4139377044"/>
                    </a:ext>
                  </a:extLst>
                </a:gridCol>
                <a:gridCol w="467689">
                  <a:extLst>
                    <a:ext uri="{9D8B030D-6E8A-4147-A177-3AD203B41FA5}">
                      <a16:colId xmlns:a16="http://schemas.microsoft.com/office/drawing/2014/main" val="1470069819"/>
                    </a:ext>
                  </a:extLst>
                </a:gridCol>
                <a:gridCol w="965764">
                  <a:extLst>
                    <a:ext uri="{9D8B030D-6E8A-4147-A177-3AD203B41FA5}">
                      <a16:colId xmlns:a16="http://schemas.microsoft.com/office/drawing/2014/main" val="3899567275"/>
                    </a:ext>
                  </a:extLst>
                </a:gridCol>
                <a:gridCol w="965764">
                  <a:extLst>
                    <a:ext uri="{9D8B030D-6E8A-4147-A177-3AD203B41FA5}">
                      <a16:colId xmlns:a16="http://schemas.microsoft.com/office/drawing/2014/main" val="1423198391"/>
                    </a:ext>
                  </a:extLst>
                </a:gridCol>
                <a:gridCol w="689055">
                  <a:extLst>
                    <a:ext uri="{9D8B030D-6E8A-4147-A177-3AD203B41FA5}">
                      <a16:colId xmlns:a16="http://schemas.microsoft.com/office/drawing/2014/main" val="1169963640"/>
                    </a:ext>
                  </a:extLst>
                </a:gridCol>
                <a:gridCol w="1178446">
                  <a:extLst>
                    <a:ext uri="{9D8B030D-6E8A-4147-A177-3AD203B41FA5}">
                      <a16:colId xmlns:a16="http://schemas.microsoft.com/office/drawing/2014/main" val="2609308478"/>
                    </a:ext>
                  </a:extLst>
                </a:gridCol>
                <a:gridCol w="1220768">
                  <a:extLst>
                    <a:ext uri="{9D8B030D-6E8A-4147-A177-3AD203B41FA5}">
                      <a16:colId xmlns:a16="http://schemas.microsoft.com/office/drawing/2014/main" val="2157902350"/>
                    </a:ext>
                  </a:extLst>
                </a:gridCol>
              </a:tblGrid>
              <a:tr h="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Simple Statistics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29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Variable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 Dev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Sum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Minimum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Maximum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567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CustomerNeed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43.09091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20.89184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8532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11.00000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73.00000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98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SalesInfoAdvice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61.87374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33.26816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12251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6.00000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180.00000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6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CustomerDecision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38.67677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16.36347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7658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10.00000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85.00000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09126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392149"/>
              </p:ext>
            </p:extLst>
          </p:nvPr>
        </p:nvGraphicFramePr>
        <p:xfrm>
          <a:off x="457200" y="3106576"/>
          <a:ext cx="7277101" cy="2641473"/>
        </p:xfrm>
        <a:graphic>
          <a:graphicData uri="http://schemas.openxmlformats.org/drawingml/2006/table">
            <a:tbl>
              <a:tblPr/>
              <a:tblGrid>
                <a:gridCol w="1966924">
                  <a:extLst>
                    <a:ext uri="{9D8B030D-6E8A-4147-A177-3AD203B41FA5}">
                      <a16:colId xmlns:a16="http://schemas.microsoft.com/office/drawing/2014/main" val="3580505320"/>
                    </a:ext>
                  </a:extLst>
                </a:gridCol>
                <a:gridCol w="1619209">
                  <a:extLst>
                    <a:ext uri="{9D8B030D-6E8A-4147-A177-3AD203B41FA5}">
                      <a16:colId xmlns:a16="http://schemas.microsoft.com/office/drawing/2014/main" val="653320051"/>
                    </a:ext>
                  </a:extLst>
                </a:gridCol>
                <a:gridCol w="1734423">
                  <a:extLst>
                    <a:ext uri="{9D8B030D-6E8A-4147-A177-3AD203B41FA5}">
                      <a16:colId xmlns:a16="http://schemas.microsoft.com/office/drawing/2014/main" val="607935628"/>
                    </a:ext>
                  </a:extLst>
                </a:gridCol>
                <a:gridCol w="1956545">
                  <a:extLst>
                    <a:ext uri="{9D8B030D-6E8A-4147-A177-3AD203B41FA5}">
                      <a16:colId xmlns:a16="http://schemas.microsoft.com/office/drawing/2014/main" val="3480634031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Pearson Correlation Coefficients, N = 198</a:t>
                      </a:r>
                      <a:b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Prob &gt; |r| under H0: Rho=0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267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CustomerNeed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SalesInfoAdvice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CustomerDecision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19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CustomerNeed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1.00000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0.54888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0.29683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646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SalesInfoAdvice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0.54888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1.00000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0.20541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0.0037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211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CustomerDecision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0.29683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0.20541</a:t>
                      </a:r>
                      <a:b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0.0037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1.00000</a:t>
                      </a:r>
                      <a:b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</a:b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1586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3350" y="6115050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Above results are for one treatment condition (Report = Information, Repeated = 1-off)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8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of Population Mean (One Sample)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4522"/>
                <a:ext cx="8362950" cy="5279127"/>
              </a:xfrm>
            </p:spPr>
            <p:txBody>
              <a:bodyPr>
                <a:normAutofit/>
              </a:bodyPr>
              <a:lstStyle/>
              <a:p>
                <a:r>
                  <a:rPr lang="en-US" b="1" u="sng" dirty="0" smtClean="0"/>
                  <a:t>H0:</a:t>
                </a:r>
                <a:r>
                  <a:rPr lang="en-US" dirty="0" smtClean="0"/>
                  <a:t> Population mean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b="0" i="1" dirty="0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</a:p>
              <a:p>
                <a:r>
                  <a:rPr lang="en-US" b="1" u="sng" dirty="0" smtClean="0"/>
                  <a:t>HA:</a:t>
                </a:r>
                <a:r>
                  <a:rPr lang="en-US" dirty="0" smtClean="0"/>
                  <a:t> </a:t>
                </a:r>
                <a:r>
                  <a:rPr lang="en-US" dirty="0"/>
                  <a:t>Population mean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b="1" u="sng" dirty="0" smtClean="0"/>
              </a:p>
              <a:p>
                <a:pPr lvl="1"/>
                <a:endParaRPr lang="en-US" b="1" u="sng" dirty="0" smtClean="0"/>
              </a:p>
              <a:p>
                <a:r>
                  <a:rPr lang="en-US" b="1" u="sng" dirty="0" smtClean="0"/>
                  <a:t>Test Statistic: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 dirty="0"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follows a t-distribution</a:t>
                </a:r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One-sided test possible (</a:t>
                </a:r>
                <a:r>
                  <a:rPr lang="en-US" b="1" dirty="0" smtClean="0"/>
                  <a:t>H0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i="1" dirty="0" smtClean="0">
                        <a:latin typeface="Cambria Math"/>
                        <a:ea typeface="Cambria Math"/>
                      </a:rPr>
                      <m:t>≥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or </a:t>
                </a:r>
                <a:r>
                  <a:rPr lang="en-US" b="1" dirty="0" smtClean="0"/>
                  <a:t>H0: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4522"/>
                <a:ext cx="8362950" cy="5279127"/>
              </a:xfrm>
              <a:blipFill>
                <a:blip r:embed="rId2"/>
                <a:stretch>
                  <a:fillRect l="-1312" t="-1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2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for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48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791930"/>
              </p:ext>
            </p:extLst>
          </p:nvPr>
        </p:nvGraphicFramePr>
        <p:xfrm>
          <a:off x="419100" y="1330324"/>
          <a:ext cx="8191501" cy="1304544"/>
        </p:xfrm>
        <a:graphic>
          <a:graphicData uri="http://schemas.openxmlformats.org/drawingml/2006/table">
            <a:tbl>
              <a:tblPr/>
              <a:tblGrid>
                <a:gridCol w="2312021">
                  <a:extLst>
                    <a:ext uri="{9D8B030D-6E8A-4147-A177-3AD203B41FA5}">
                      <a16:colId xmlns:a16="http://schemas.microsoft.com/office/drawing/2014/main" val="3100793205"/>
                    </a:ext>
                  </a:extLst>
                </a:gridCol>
                <a:gridCol w="961409">
                  <a:extLst>
                    <a:ext uri="{9D8B030D-6E8A-4147-A177-3AD203B41FA5}">
                      <a16:colId xmlns:a16="http://schemas.microsoft.com/office/drawing/2014/main" val="3852928307"/>
                    </a:ext>
                  </a:extLst>
                </a:gridCol>
                <a:gridCol w="961409">
                  <a:extLst>
                    <a:ext uri="{9D8B030D-6E8A-4147-A177-3AD203B41FA5}">
                      <a16:colId xmlns:a16="http://schemas.microsoft.com/office/drawing/2014/main" val="2729547598"/>
                    </a:ext>
                  </a:extLst>
                </a:gridCol>
                <a:gridCol w="961409">
                  <a:extLst>
                    <a:ext uri="{9D8B030D-6E8A-4147-A177-3AD203B41FA5}">
                      <a16:colId xmlns:a16="http://schemas.microsoft.com/office/drawing/2014/main" val="3345976815"/>
                    </a:ext>
                  </a:extLst>
                </a:gridCol>
                <a:gridCol w="1072435">
                  <a:extLst>
                    <a:ext uri="{9D8B030D-6E8A-4147-A177-3AD203B41FA5}">
                      <a16:colId xmlns:a16="http://schemas.microsoft.com/office/drawing/2014/main" val="1162429486"/>
                    </a:ext>
                  </a:extLst>
                </a:gridCol>
                <a:gridCol w="961409">
                  <a:extLst>
                    <a:ext uri="{9D8B030D-6E8A-4147-A177-3AD203B41FA5}">
                      <a16:colId xmlns:a16="http://schemas.microsoft.com/office/drawing/2014/main" val="2745459943"/>
                    </a:ext>
                  </a:extLst>
                </a:gridCol>
                <a:gridCol w="961409">
                  <a:extLst>
                    <a:ext uri="{9D8B030D-6E8A-4147-A177-3AD203B41FA5}">
                      <a16:colId xmlns:a16="http://schemas.microsoft.com/office/drawing/2014/main" val="737619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Variable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95% CL Mean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 Dev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95% CL </a:t>
                      </a: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Dev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432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CustomerNeed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43.0909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40.1629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46.0189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20.8918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19.0168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23.1802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915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SalesInfoAdvice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61.8737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57.2112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66.5363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33.2682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30.2824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36.9122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88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CustomerDecision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38.6768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36.3834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40.9701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16.3635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14.8949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18.1559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00089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03180"/>
              </p:ext>
            </p:extLst>
          </p:nvPr>
        </p:nvGraphicFramePr>
        <p:xfrm>
          <a:off x="1805306" y="3160033"/>
          <a:ext cx="4747894" cy="1304544"/>
        </p:xfrm>
        <a:graphic>
          <a:graphicData uri="http://schemas.openxmlformats.org/drawingml/2006/table">
            <a:tbl>
              <a:tblPr/>
              <a:tblGrid>
                <a:gridCol w="2298738">
                  <a:extLst>
                    <a:ext uri="{9D8B030D-6E8A-4147-A177-3AD203B41FA5}">
                      <a16:colId xmlns:a16="http://schemas.microsoft.com/office/drawing/2014/main" val="3973582771"/>
                    </a:ext>
                  </a:extLst>
                </a:gridCol>
                <a:gridCol w="522826">
                  <a:extLst>
                    <a:ext uri="{9D8B030D-6E8A-4147-A177-3AD203B41FA5}">
                      <a16:colId xmlns:a16="http://schemas.microsoft.com/office/drawing/2014/main" val="1514244590"/>
                    </a:ext>
                  </a:extLst>
                </a:gridCol>
                <a:gridCol w="989852">
                  <a:extLst>
                    <a:ext uri="{9D8B030D-6E8A-4147-A177-3AD203B41FA5}">
                      <a16:colId xmlns:a16="http://schemas.microsoft.com/office/drawing/2014/main" val="891117046"/>
                    </a:ext>
                  </a:extLst>
                </a:gridCol>
                <a:gridCol w="936478">
                  <a:extLst>
                    <a:ext uri="{9D8B030D-6E8A-4147-A177-3AD203B41FA5}">
                      <a16:colId xmlns:a16="http://schemas.microsoft.com/office/drawing/2014/main" val="4141421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Variable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DF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 Value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 &gt; |t|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08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CustomerNeed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-1.29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0.2000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68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SalesInfoAdvice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7.14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1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CustomerDecision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-5.44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44593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3350" y="6115050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Above results are for one treatment condition (Report = Information, Repeated = 1-off)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2639"/>
          </a:xfrm>
        </p:spPr>
        <p:txBody>
          <a:bodyPr>
            <a:normAutofit/>
          </a:bodyPr>
          <a:lstStyle/>
          <a:p>
            <a:r>
              <a:rPr lang="en-US" u="sng" dirty="0" smtClean="0"/>
              <a:t>Paired</a:t>
            </a:r>
            <a:r>
              <a:rPr lang="en-US" dirty="0" smtClean="0"/>
              <a:t> Sample Test of Population Means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4522"/>
                <a:ext cx="8229600" cy="5412477"/>
              </a:xfrm>
            </p:spPr>
            <p:txBody>
              <a:bodyPr>
                <a:normAutofit/>
              </a:bodyPr>
              <a:lstStyle/>
              <a:p>
                <a:r>
                  <a:rPr lang="en-US" b="1" u="sng" dirty="0" smtClean="0"/>
                  <a:t>H0:</a:t>
                </a:r>
                <a:r>
                  <a:rPr lang="en-US" dirty="0" smtClean="0"/>
                  <a:t> </a:t>
                </a:r>
                <a:r>
                  <a:rPr lang="en-US" dirty="0"/>
                  <a:t>Population means are equal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r>
                  <a:rPr lang="en-US" b="1" u="sng" dirty="0" smtClean="0"/>
                  <a:t>HA:</a:t>
                </a:r>
                <a:r>
                  <a:rPr lang="en-US" dirty="0" smtClean="0"/>
                  <a:t> </a:t>
                </a:r>
                <a:r>
                  <a:rPr lang="en-US" dirty="0"/>
                  <a:t>Population means are </a:t>
                </a:r>
                <a:r>
                  <a:rPr lang="en-US" dirty="0" smtClean="0"/>
                  <a:t>different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pPr lvl="1"/>
                <a:endParaRPr lang="en-US" dirty="0" smtClean="0"/>
              </a:p>
              <a:p>
                <a:r>
                  <a:rPr lang="en-US" b="1" u="sng" dirty="0" smtClean="0"/>
                  <a:t>Test Statistic: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follows a t-distribution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 : Standard error of the difference in paired observations</a:t>
                </a:r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Used if two samples are not independent =&gt; most common example is repeated observations</a:t>
                </a:r>
              </a:p>
              <a:p>
                <a:pPr lvl="1"/>
                <a:r>
                  <a:rPr lang="en-US" dirty="0" smtClean="0"/>
                  <a:t>E.g., Before-after tests</a:t>
                </a:r>
              </a:p>
              <a:p>
                <a:r>
                  <a:rPr lang="en-US" dirty="0"/>
                  <a:t>Can have one-sided tests (</a:t>
                </a:r>
                <a:r>
                  <a:rPr lang="en-US" b="1" dirty="0"/>
                  <a:t>H0: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  <a:ea typeface="Cambria Math"/>
                      </a:rPr>
                      <m:t>≥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:r>
                  <a:rPr lang="en-US" b="1" dirty="0"/>
                  <a:t>H0: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4522"/>
                <a:ext cx="8229600" cy="5412477"/>
              </a:xfrm>
              <a:blipFill>
                <a:blip r:embed="rId2"/>
                <a:stretch>
                  <a:fillRect l="-1333" t="-1240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76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for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50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331687"/>
              </p:ext>
            </p:extLst>
          </p:nvPr>
        </p:nvGraphicFramePr>
        <p:xfrm>
          <a:off x="1676399" y="1299940"/>
          <a:ext cx="5791202" cy="391351"/>
        </p:xfrm>
        <a:graphic>
          <a:graphicData uri="http://schemas.openxmlformats.org/drawingml/2006/table">
            <a:tbl>
              <a:tblPr/>
              <a:tblGrid>
                <a:gridCol w="5791202">
                  <a:extLst>
                    <a:ext uri="{9D8B030D-6E8A-4147-A177-3AD203B41FA5}">
                      <a16:colId xmlns:a16="http://schemas.microsoft.com/office/drawing/2014/main" val="2900629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lang="en-US" sz="2400" b="1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Difference:  </a:t>
                      </a:r>
                      <a:r>
                        <a:rPr lang="en-US" sz="2400" b="1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CustomerNeed</a:t>
                      </a:r>
                      <a:r>
                        <a:rPr lang="en-US" sz="2400" b="1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- </a:t>
                      </a:r>
                      <a:r>
                        <a:rPr lang="en-US" sz="2400" b="1" i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SalesInfoAdvice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" marR="63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53315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235376"/>
              </p:ext>
            </p:extLst>
          </p:nvPr>
        </p:nvGraphicFramePr>
        <p:xfrm>
          <a:off x="1200151" y="2083816"/>
          <a:ext cx="6972300" cy="717487"/>
        </p:xfrm>
        <a:graphic>
          <a:graphicData uri="http://schemas.openxmlformats.org/drawingml/2006/table">
            <a:tbl>
              <a:tblPr/>
              <a:tblGrid>
                <a:gridCol w="586679">
                  <a:extLst>
                    <a:ext uri="{9D8B030D-6E8A-4147-A177-3AD203B41FA5}">
                      <a16:colId xmlns:a16="http://schemas.microsoft.com/office/drawing/2014/main" val="2225400364"/>
                    </a:ext>
                  </a:extLst>
                </a:gridCol>
                <a:gridCol w="1138769">
                  <a:extLst>
                    <a:ext uri="{9D8B030D-6E8A-4147-A177-3AD203B41FA5}">
                      <a16:colId xmlns:a16="http://schemas.microsoft.com/office/drawing/2014/main" val="3241968323"/>
                    </a:ext>
                  </a:extLst>
                </a:gridCol>
                <a:gridCol w="1169367">
                  <a:extLst>
                    <a:ext uri="{9D8B030D-6E8A-4147-A177-3AD203B41FA5}">
                      <a16:colId xmlns:a16="http://schemas.microsoft.com/office/drawing/2014/main" val="4257699820"/>
                    </a:ext>
                  </a:extLst>
                </a:gridCol>
                <a:gridCol w="1136109">
                  <a:extLst>
                    <a:ext uri="{9D8B030D-6E8A-4147-A177-3AD203B41FA5}">
                      <a16:colId xmlns:a16="http://schemas.microsoft.com/office/drawing/2014/main" val="1254519093"/>
                    </a:ext>
                  </a:extLst>
                </a:gridCol>
                <a:gridCol w="1444746">
                  <a:extLst>
                    <a:ext uri="{9D8B030D-6E8A-4147-A177-3AD203B41FA5}">
                      <a16:colId xmlns:a16="http://schemas.microsoft.com/office/drawing/2014/main" val="2184535949"/>
                    </a:ext>
                  </a:extLst>
                </a:gridCol>
                <a:gridCol w="1496630">
                  <a:extLst>
                    <a:ext uri="{9D8B030D-6E8A-4147-A177-3AD203B41FA5}">
                      <a16:colId xmlns:a16="http://schemas.microsoft.com/office/drawing/2014/main" val="4169647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Dev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Err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Minimum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Maximum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40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-18.7828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27.9332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1.9851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-169.0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34.0000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5345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709815"/>
              </p:ext>
            </p:extLst>
          </p:nvPr>
        </p:nvGraphicFramePr>
        <p:xfrm>
          <a:off x="1057276" y="3248932"/>
          <a:ext cx="7258050" cy="717487"/>
        </p:xfrm>
        <a:graphic>
          <a:graphicData uri="http://schemas.openxmlformats.org/drawingml/2006/table">
            <a:tbl>
              <a:tblPr/>
              <a:tblGrid>
                <a:gridCol w="1248853">
                  <a:extLst>
                    <a:ext uri="{9D8B030D-6E8A-4147-A177-3AD203B41FA5}">
                      <a16:colId xmlns:a16="http://schemas.microsoft.com/office/drawing/2014/main" val="803337061"/>
                    </a:ext>
                  </a:extLst>
                </a:gridCol>
                <a:gridCol w="1234430">
                  <a:extLst>
                    <a:ext uri="{9D8B030D-6E8A-4147-A177-3AD203B41FA5}">
                      <a16:colId xmlns:a16="http://schemas.microsoft.com/office/drawing/2014/main" val="4092671602"/>
                    </a:ext>
                  </a:extLst>
                </a:gridCol>
                <a:gridCol w="1234430">
                  <a:extLst>
                    <a:ext uri="{9D8B030D-6E8A-4147-A177-3AD203B41FA5}">
                      <a16:colId xmlns:a16="http://schemas.microsoft.com/office/drawing/2014/main" val="3959933027"/>
                    </a:ext>
                  </a:extLst>
                </a:gridCol>
                <a:gridCol w="1267601">
                  <a:extLst>
                    <a:ext uri="{9D8B030D-6E8A-4147-A177-3AD203B41FA5}">
                      <a16:colId xmlns:a16="http://schemas.microsoft.com/office/drawing/2014/main" val="2081877686"/>
                    </a:ext>
                  </a:extLst>
                </a:gridCol>
                <a:gridCol w="1136368">
                  <a:extLst>
                    <a:ext uri="{9D8B030D-6E8A-4147-A177-3AD203B41FA5}">
                      <a16:colId xmlns:a16="http://schemas.microsoft.com/office/drawing/2014/main" val="2798387647"/>
                    </a:ext>
                  </a:extLst>
                </a:gridCol>
                <a:gridCol w="1136368">
                  <a:extLst>
                    <a:ext uri="{9D8B030D-6E8A-4147-A177-3AD203B41FA5}">
                      <a16:colId xmlns:a16="http://schemas.microsoft.com/office/drawing/2014/main" val="1709736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95% CL Mean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Dev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95% CL </a:t>
                      </a: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Dev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46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-18.7828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-22.6977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-14.8680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27.9332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25.4262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30.9929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1393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873221"/>
              </p:ext>
            </p:extLst>
          </p:nvPr>
        </p:nvGraphicFramePr>
        <p:xfrm>
          <a:off x="3002120" y="4462435"/>
          <a:ext cx="3139759" cy="717487"/>
        </p:xfrm>
        <a:graphic>
          <a:graphicData uri="http://schemas.openxmlformats.org/drawingml/2006/table">
            <a:tbl>
              <a:tblPr/>
              <a:tblGrid>
                <a:gridCol w="682422">
                  <a:extLst>
                    <a:ext uri="{9D8B030D-6E8A-4147-A177-3AD203B41FA5}">
                      <a16:colId xmlns:a16="http://schemas.microsoft.com/office/drawing/2014/main" val="304526185"/>
                    </a:ext>
                  </a:extLst>
                </a:gridCol>
                <a:gridCol w="1262712">
                  <a:extLst>
                    <a:ext uri="{9D8B030D-6E8A-4147-A177-3AD203B41FA5}">
                      <a16:colId xmlns:a16="http://schemas.microsoft.com/office/drawing/2014/main" val="4149328577"/>
                    </a:ext>
                  </a:extLst>
                </a:gridCol>
                <a:gridCol w="1194625">
                  <a:extLst>
                    <a:ext uri="{9D8B030D-6E8A-4147-A177-3AD203B41FA5}">
                      <a16:colId xmlns:a16="http://schemas.microsoft.com/office/drawing/2014/main" val="2323412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DF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 Value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4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&gt; |t|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957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-9.46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152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33350" y="6115050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Above results are for one treatment condition (Report = Information, Repeated = 1-off)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3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" y="0"/>
            <a:ext cx="8724900" cy="982639"/>
          </a:xfrm>
        </p:spPr>
        <p:txBody>
          <a:bodyPr>
            <a:normAutofit/>
          </a:bodyPr>
          <a:lstStyle/>
          <a:p>
            <a:r>
              <a:rPr lang="en-US" dirty="0" smtClean="0"/>
              <a:t>Two Sample </a:t>
            </a:r>
            <a:r>
              <a:rPr lang="en-US" dirty="0"/>
              <a:t>Test </a:t>
            </a:r>
            <a:r>
              <a:rPr lang="en-US" dirty="0" smtClean="0"/>
              <a:t>of Population Means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4523"/>
                <a:ext cx="8229600" cy="5050528"/>
              </a:xfrm>
            </p:spPr>
            <p:txBody>
              <a:bodyPr>
                <a:normAutofit/>
              </a:bodyPr>
              <a:lstStyle/>
              <a:p>
                <a:r>
                  <a:rPr lang="en-US" b="1" u="sng" dirty="0" smtClean="0"/>
                  <a:t>H0:</a:t>
                </a:r>
                <a:r>
                  <a:rPr lang="en-US" dirty="0" smtClean="0"/>
                  <a:t> Population means are equal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 </a:t>
                </a:r>
                <a:endParaRPr lang="en-US" dirty="0"/>
              </a:p>
              <a:p>
                <a:r>
                  <a:rPr lang="en-US" b="1" u="sng" dirty="0" smtClean="0"/>
                  <a:t>HA:</a:t>
                </a:r>
                <a:r>
                  <a:rPr lang="en-US" dirty="0" smtClean="0"/>
                  <a:t> </a:t>
                </a:r>
                <a:r>
                  <a:rPr lang="en-US" dirty="0"/>
                  <a:t>Population means are </a:t>
                </a:r>
                <a:r>
                  <a:rPr lang="en-US" dirty="0" smtClean="0"/>
                  <a:t>not equal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r>
                  <a:rPr lang="en-US" b="1" u="sng" dirty="0" smtClean="0"/>
                  <a:t>Test Statistic: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/>
                  <a:t> follows a t-distribution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 smtClean="0"/>
                  <a:t>: calculation depends on whether the two populations are assumed to have same or different standard deviations. </a:t>
                </a:r>
              </a:p>
              <a:p>
                <a:pPr lvl="1"/>
                <a:r>
                  <a:rPr lang="en-US" dirty="0" smtClean="0"/>
                  <a:t>Samples are assumed to be independent</a:t>
                </a:r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Can have one-sided tests </a:t>
                </a:r>
                <a:r>
                  <a:rPr lang="en-US" dirty="0"/>
                  <a:t>(</a:t>
                </a:r>
                <a:r>
                  <a:rPr lang="en-US" b="1" dirty="0"/>
                  <a:t>H0: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/>
                        <a:ea typeface="Cambria Math"/>
                      </a:rPr>
                      <m:t>≥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:r>
                  <a:rPr lang="en-US" b="1" dirty="0"/>
                  <a:t>H0: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4523"/>
                <a:ext cx="8229600" cy="5050528"/>
              </a:xfrm>
              <a:blipFill>
                <a:blip r:embed="rId2"/>
                <a:stretch>
                  <a:fillRect l="-1333" t="-1329" b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139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Reults</a:t>
            </a:r>
            <a:r>
              <a:rPr lang="en-US" dirty="0" smtClean="0"/>
              <a:t> for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52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12912"/>
              </p:ext>
            </p:extLst>
          </p:nvPr>
        </p:nvGraphicFramePr>
        <p:xfrm>
          <a:off x="794067" y="1157079"/>
          <a:ext cx="7555865" cy="1304544"/>
        </p:xfrm>
        <a:graphic>
          <a:graphicData uri="http://schemas.openxmlformats.org/drawingml/2006/table">
            <a:tbl>
              <a:tblPr/>
              <a:tblGrid>
                <a:gridCol w="1515152">
                  <a:extLst>
                    <a:ext uri="{9D8B030D-6E8A-4147-A177-3AD203B41FA5}">
                      <a16:colId xmlns:a16="http://schemas.microsoft.com/office/drawing/2014/main" val="3478114191"/>
                    </a:ext>
                  </a:extLst>
                </a:gridCol>
                <a:gridCol w="504270">
                  <a:extLst>
                    <a:ext uri="{9D8B030D-6E8A-4147-A177-3AD203B41FA5}">
                      <a16:colId xmlns:a16="http://schemas.microsoft.com/office/drawing/2014/main" val="2185522438"/>
                    </a:ext>
                  </a:extLst>
                </a:gridCol>
                <a:gridCol w="921961">
                  <a:extLst>
                    <a:ext uri="{9D8B030D-6E8A-4147-A177-3AD203B41FA5}">
                      <a16:colId xmlns:a16="http://schemas.microsoft.com/office/drawing/2014/main" val="1126531508"/>
                    </a:ext>
                  </a:extLst>
                </a:gridCol>
                <a:gridCol w="1028432">
                  <a:extLst>
                    <a:ext uri="{9D8B030D-6E8A-4147-A177-3AD203B41FA5}">
                      <a16:colId xmlns:a16="http://schemas.microsoft.com/office/drawing/2014/main" val="3368250142"/>
                    </a:ext>
                  </a:extLst>
                </a:gridCol>
                <a:gridCol w="999180">
                  <a:extLst>
                    <a:ext uri="{9D8B030D-6E8A-4147-A177-3AD203B41FA5}">
                      <a16:colId xmlns:a16="http://schemas.microsoft.com/office/drawing/2014/main" val="736476768"/>
                    </a:ext>
                  </a:extLst>
                </a:gridCol>
                <a:gridCol w="1270620">
                  <a:extLst>
                    <a:ext uri="{9D8B030D-6E8A-4147-A177-3AD203B41FA5}">
                      <a16:colId xmlns:a16="http://schemas.microsoft.com/office/drawing/2014/main" val="4213346467"/>
                    </a:ext>
                  </a:extLst>
                </a:gridCol>
                <a:gridCol w="1316250">
                  <a:extLst>
                    <a:ext uri="{9D8B030D-6E8A-4147-A177-3AD203B41FA5}">
                      <a16:colId xmlns:a16="http://schemas.microsoft.com/office/drawing/2014/main" val="1502475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ReportType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 Dev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 Err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Minimum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Maximum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0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61.8737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33.2682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2.3643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6.0000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180.0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23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54.0960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20.2734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1.4408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10.0000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80.0000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214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Diff (1-2)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7.7778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27.5480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2.7687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46886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05398"/>
              </p:ext>
            </p:extLst>
          </p:nvPr>
        </p:nvGraphicFramePr>
        <p:xfrm>
          <a:off x="95248" y="3288494"/>
          <a:ext cx="8953501" cy="1956816"/>
        </p:xfrm>
        <a:graphic>
          <a:graphicData uri="http://schemas.openxmlformats.org/drawingml/2006/table">
            <a:tbl>
              <a:tblPr/>
              <a:tblGrid>
                <a:gridCol w="1538995">
                  <a:extLst>
                    <a:ext uri="{9D8B030D-6E8A-4147-A177-3AD203B41FA5}">
                      <a16:colId xmlns:a16="http://schemas.microsoft.com/office/drawing/2014/main" val="2965642437"/>
                    </a:ext>
                  </a:extLst>
                </a:gridCol>
                <a:gridCol w="1687546">
                  <a:extLst>
                    <a:ext uri="{9D8B030D-6E8A-4147-A177-3AD203B41FA5}">
                      <a16:colId xmlns:a16="http://schemas.microsoft.com/office/drawing/2014/main" val="3199494026"/>
                    </a:ext>
                  </a:extLst>
                </a:gridCol>
                <a:gridCol w="936469">
                  <a:extLst>
                    <a:ext uri="{9D8B030D-6E8A-4147-A177-3AD203B41FA5}">
                      <a16:colId xmlns:a16="http://schemas.microsoft.com/office/drawing/2014/main" val="2169855905"/>
                    </a:ext>
                  </a:extLst>
                </a:gridCol>
                <a:gridCol w="936469">
                  <a:extLst>
                    <a:ext uri="{9D8B030D-6E8A-4147-A177-3AD203B41FA5}">
                      <a16:colId xmlns:a16="http://schemas.microsoft.com/office/drawing/2014/main" val="2108277029"/>
                    </a:ext>
                  </a:extLst>
                </a:gridCol>
                <a:gridCol w="936469">
                  <a:extLst>
                    <a:ext uri="{9D8B030D-6E8A-4147-A177-3AD203B41FA5}">
                      <a16:colId xmlns:a16="http://schemas.microsoft.com/office/drawing/2014/main" val="1151029146"/>
                    </a:ext>
                  </a:extLst>
                </a:gridCol>
                <a:gridCol w="1044615">
                  <a:extLst>
                    <a:ext uri="{9D8B030D-6E8A-4147-A177-3AD203B41FA5}">
                      <a16:colId xmlns:a16="http://schemas.microsoft.com/office/drawing/2014/main" val="1722649210"/>
                    </a:ext>
                  </a:extLst>
                </a:gridCol>
                <a:gridCol w="936469">
                  <a:extLst>
                    <a:ext uri="{9D8B030D-6E8A-4147-A177-3AD203B41FA5}">
                      <a16:colId xmlns:a16="http://schemas.microsoft.com/office/drawing/2014/main" val="2961405451"/>
                    </a:ext>
                  </a:extLst>
                </a:gridCol>
                <a:gridCol w="936469">
                  <a:extLst>
                    <a:ext uri="{9D8B030D-6E8A-4147-A177-3AD203B41FA5}">
                      <a16:colId xmlns:a16="http://schemas.microsoft.com/office/drawing/2014/main" val="35615905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ReportType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Method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Mean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95% CL Mean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Std Dev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95% CL Std Dev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081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61.8737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57.2112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66.5363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33.2682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30.2824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36.9122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58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54.0960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51.2547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56.9373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20.2734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18.4539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22.4941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53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Diff (1-2)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Pooled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7.7778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2.3346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13.2210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27.5480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25.7516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29.6159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583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Diff (1-2)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Satterthwaite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7.7778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2.3310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13.2245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20678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3350" y="6115050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Above results are for comparing Information and Advice for Repeated = 1-off.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6759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for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53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72414"/>
              </p:ext>
            </p:extLst>
          </p:nvPr>
        </p:nvGraphicFramePr>
        <p:xfrm>
          <a:off x="1371601" y="1509560"/>
          <a:ext cx="6400798" cy="978408"/>
        </p:xfrm>
        <a:graphic>
          <a:graphicData uri="http://schemas.openxmlformats.org/drawingml/2006/table">
            <a:tbl>
              <a:tblPr/>
              <a:tblGrid>
                <a:gridCol w="1911284">
                  <a:extLst>
                    <a:ext uri="{9D8B030D-6E8A-4147-A177-3AD203B41FA5}">
                      <a16:colId xmlns:a16="http://schemas.microsoft.com/office/drawing/2014/main" val="3282192477"/>
                    </a:ext>
                  </a:extLst>
                </a:gridCol>
                <a:gridCol w="1450171">
                  <a:extLst>
                    <a:ext uri="{9D8B030D-6E8A-4147-A177-3AD203B41FA5}">
                      <a16:colId xmlns:a16="http://schemas.microsoft.com/office/drawing/2014/main" val="3625956075"/>
                    </a:ext>
                  </a:extLst>
                </a:gridCol>
                <a:gridCol w="916881">
                  <a:extLst>
                    <a:ext uri="{9D8B030D-6E8A-4147-A177-3AD203B41FA5}">
                      <a16:colId xmlns:a16="http://schemas.microsoft.com/office/drawing/2014/main" val="1392469572"/>
                    </a:ext>
                  </a:extLst>
                </a:gridCol>
                <a:gridCol w="1090635">
                  <a:extLst>
                    <a:ext uri="{9D8B030D-6E8A-4147-A177-3AD203B41FA5}">
                      <a16:colId xmlns:a16="http://schemas.microsoft.com/office/drawing/2014/main" val="283259595"/>
                    </a:ext>
                  </a:extLst>
                </a:gridCol>
                <a:gridCol w="1031827">
                  <a:extLst>
                    <a:ext uri="{9D8B030D-6E8A-4147-A177-3AD203B41FA5}">
                      <a16:colId xmlns:a16="http://schemas.microsoft.com/office/drawing/2014/main" val="1100511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Method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Variances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DF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 Value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&gt; |t|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95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Pooled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Equal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394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2.81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0.0052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45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Satterthwaite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Unequal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325.58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2.81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0.0053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14858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3350" y="6115050"/>
            <a:ext cx="897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NOTE: Above results are for comparing Information and Advice for Repeated = 1-off.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747250"/>
              </p:ext>
            </p:extLst>
          </p:nvPr>
        </p:nvGraphicFramePr>
        <p:xfrm>
          <a:off x="1428750" y="3234784"/>
          <a:ext cx="6286499" cy="978408"/>
        </p:xfrm>
        <a:graphic>
          <a:graphicData uri="http://schemas.openxmlformats.org/drawingml/2006/table">
            <a:tbl>
              <a:tblPr/>
              <a:tblGrid>
                <a:gridCol w="1403629">
                  <a:extLst>
                    <a:ext uri="{9D8B030D-6E8A-4147-A177-3AD203B41FA5}">
                      <a16:colId xmlns:a16="http://schemas.microsoft.com/office/drawing/2014/main" val="2043996844"/>
                    </a:ext>
                  </a:extLst>
                </a:gridCol>
                <a:gridCol w="1355327">
                  <a:extLst>
                    <a:ext uri="{9D8B030D-6E8A-4147-A177-3AD203B41FA5}">
                      <a16:colId xmlns:a16="http://schemas.microsoft.com/office/drawing/2014/main" val="4165078987"/>
                    </a:ext>
                  </a:extLst>
                </a:gridCol>
                <a:gridCol w="1231727">
                  <a:extLst>
                    <a:ext uri="{9D8B030D-6E8A-4147-A177-3AD203B41FA5}">
                      <a16:colId xmlns:a16="http://schemas.microsoft.com/office/drawing/2014/main" val="1791924874"/>
                    </a:ext>
                  </a:extLst>
                </a:gridCol>
                <a:gridCol w="1247355">
                  <a:extLst>
                    <a:ext uri="{9D8B030D-6E8A-4147-A177-3AD203B41FA5}">
                      <a16:colId xmlns:a16="http://schemas.microsoft.com/office/drawing/2014/main" val="2637843047"/>
                    </a:ext>
                  </a:extLst>
                </a:gridCol>
                <a:gridCol w="1048461">
                  <a:extLst>
                    <a:ext uri="{9D8B030D-6E8A-4147-A177-3AD203B41FA5}">
                      <a16:colId xmlns:a16="http://schemas.microsoft.com/office/drawing/2014/main" val="2279894843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Equality of Variances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52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Method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Num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DF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Den DF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 Value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 &gt; F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5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Folded F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B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197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2.69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&lt;.0001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8100" marR="381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4557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572000"/>
            <a:ext cx="6686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H</a:t>
            </a:r>
            <a:r>
              <a:rPr lang="en-US" sz="2000" b="1" baseline="-25000" dirty="0" smtClean="0"/>
              <a:t>0</a:t>
            </a:r>
            <a:r>
              <a:rPr lang="en-US" sz="2000" b="1" dirty="0" smtClean="0"/>
              <a:t> </a:t>
            </a:r>
            <a:r>
              <a:rPr lang="en-US" sz="2000" dirty="0" smtClean="0"/>
              <a:t>for Equal Variances Test:  Variances are equal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5511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alpha val="91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28198</TotalTime>
  <Words>3217</Words>
  <Application>Microsoft Office PowerPoint</Application>
  <PresentationFormat>On-screen Show (4:3)</PresentationFormat>
  <Paragraphs>673</Paragraphs>
  <Slides>53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Arial</vt:lpstr>
      <vt:lpstr>Arial Narrow</vt:lpstr>
      <vt:lpstr>Calibri</vt:lpstr>
      <vt:lpstr>Cambria Math</vt:lpstr>
      <vt:lpstr>Mathematica1</vt:lpstr>
      <vt:lpstr>Times New Roman</vt:lpstr>
      <vt:lpstr>Office Theme</vt:lpstr>
      <vt:lpstr>Descriptive Analysis &amp; Hypothesis Testing Part I</vt:lpstr>
      <vt:lpstr>Types of Data</vt:lpstr>
      <vt:lpstr>What Types of Data are these?</vt:lpstr>
      <vt:lpstr>Basic Descriptive Analysis in SAS</vt:lpstr>
      <vt:lpstr>Example: Customer – Salesperson Study</vt:lpstr>
      <vt:lpstr>Study Design</vt:lpstr>
      <vt:lpstr>Study Design</vt:lpstr>
      <vt:lpstr>Study Design</vt:lpstr>
      <vt:lpstr>Sales Experiment Data</vt:lpstr>
      <vt:lpstr>Exploratory Analysis:  Some Questions of Interest</vt:lpstr>
      <vt:lpstr>Descriptive Analysis &amp; Hypothesis Testing Part II</vt:lpstr>
      <vt:lpstr>Basic Idea</vt:lpstr>
      <vt:lpstr>The Challenges of Limited Data</vt:lpstr>
      <vt:lpstr>Problem of Limited Data – An Analogy</vt:lpstr>
      <vt:lpstr>Testing Hypotheses with Limited Data</vt:lpstr>
      <vt:lpstr>Statistical Testing Summary</vt:lpstr>
      <vt:lpstr>Formulating Hypotheses</vt:lpstr>
      <vt:lpstr>Judicial Case Analogy</vt:lpstr>
      <vt:lpstr>Confidence Level</vt:lpstr>
      <vt:lpstr>Test Statistic and Sampling Distribution</vt:lpstr>
      <vt:lpstr>Test Statistic and Sampling Distribution</vt:lpstr>
      <vt:lpstr>Performing the Test</vt:lpstr>
      <vt:lpstr>Rejection Region Approach</vt:lpstr>
      <vt:lpstr>P-Value Approach</vt:lpstr>
      <vt:lpstr>Explaining What a p-value is (NOT)</vt:lpstr>
      <vt:lpstr>Descriptive Analysis &amp; Hypothesis Testing Part III</vt:lpstr>
      <vt:lpstr>Customer - Salesperson Study Example</vt:lpstr>
      <vt:lpstr>Questions We Want to Answer</vt:lpstr>
      <vt:lpstr>Questions We Want to Answer</vt:lpstr>
      <vt:lpstr>Questions We Want to Answer</vt:lpstr>
      <vt:lpstr>Hypothesis Testing Examples</vt:lpstr>
      <vt:lpstr>Example 1</vt:lpstr>
      <vt:lpstr>Example 1</vt:lpstr>
      <vt:lpstr>Example 2</vt:lpstr>
      <vt:lpstr>Example 2</vt:lpstr>
      <vt:lpstr>Example 3</vt:lpstr>
      <vt:lpstr>Example 3</vt:lpstr>
      <vt:lpstr>Example 4</vt:lpstr>
      <vt:lpstr>Example 4</vt:lpstr>
      <vt:lpstr>Backup Slides</vt:lpstr>
      <vt:lpstr>Chi-Square Test of Independence</vt:lpstr>
      <vt:lpstr>Results for Example</vt:lpstr>
      <vt:lpstr>Test of Proportions in Independent Samples</vt:lpstr>
      <vt:lpstr>Test of Proportions</vt:lpstr>
      <vt:lpstr>Test of Correlation (Pearson)</vt:lpstr>
      <vt:lpstr>Results for Example</vt:lpstr>
      <vt:lpstr>Test of Population Mean (One Sample)</vt:lpstr>
      <vt:lpstr>Results for Example</vt:lpstr>
      <vt:lpstr>Paired Sample Test of Population Means</vt:lpstr>
      <vt:lpstr>Results for Example</vt:lpstr>
      <vt:lpstr>Two Sample Test of Population Means</vt:lpstr>
      <vt:lpstr>Reults for Example</vt:lpstr>
      <vt:lpstr>Results for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lxe072000</dc:creator>
  <cp:lastModifiedBy>Subramanian, Upender</cp:lastModifiedBy>
  <cp:revision>1470</cp:revision>
  <dcterms:created xsi:type="dcterms:W3CDTF">2011-08-25T15:49:05Z</dcterms:created>
  <dcterms:modified xsi:type="dcterms:W3CDTF">2018-02-13T01:43:52Z</dcterms:modified>
</cp:coreProperties>
</file>